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sldIdLst>
    <p:sldId id="256" r:id="rId2"/>
    <p:sldId id="257" r:id="rId3"/>
    <p:sldId id="258" r:id="rId4"/>
    <p:sldId id="259" r:id="rId5"/>
    <p:sldId id="260" r:id="rId6"/>
    <p:sldId id="261" r:id="rId7"/>
    <p:sldId id="265" r:id="rId8"/>
    <p:sldId id="266" r:id="rId9"/>
    <p:sldId id="267" r:id="rId10"/>
    <p:sldId id="268" r:id="rId11"/>
    <p:sldId id="269" r:id="rId12"/>
    <p:sldId id="270"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4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4149883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2432033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3720412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E651C5-4127-44BA-BE22-812F63C2F3A7}"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3559659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E651C5-4127-44BA-BE22-812F63C2F3A7}"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3806039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E651C5-4127-44BA-BE22-812F63C2F3A7}"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4212521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E651C5-4127-44BA-BE22-812F63C2F3A7}"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1902272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E651C5-4127-44BA-BE22-812F63C2F3A7}"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4020079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E651C5-4127-44BA-BE22-812F63C2F3A7}"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4144379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2932966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06167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389297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78523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141456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3231222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E651C5-4127-44BA-BE22-812F63C2F3A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759A7A-89A4-4E41-96F1-880A30C8C0CD}" type="slidenum">
              <a:rPr lang="en-US" smtClean="0"/>
              <a:t>‹#›</a:t>
            </a:fld>
            <a:endParaRPr lang="en-US"/>
          </a:p>
        </p:txBody>
      </p:sp>
    </p:spTree>
    <p:extLst>
      <p:ext uri="{BB962C8B-B14F-4D97-AF65-F5344CB8AC3E}">
        <p14:creationId xmlns:p14="http://schemas.microsoft.com/office/powerpoint/2010/main" val="2737152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E651C5-4127-44BA-BE22-812F63C2F3A7}" type="datetimeFigureOut">
              <a:rPr lang="en-US" smtClean="0"/>
              <a:t>3/30/2026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4759A7A-89A4-4E41-96F1-880A30C8C0CD}" type="slidenum">
              <a:rPr lang="en-US" smtClean="0"/>
              <a:t>‹#›</a:t>
            </a:fld>
            <a:endParaRPr lang="en-US"/>
          </a:p>
        </p:txBody>
      </p:sp>
    </p:spTree>
    <p:extLst>
      <p:ext uri="{BB962C8B-B14F-4D97-AF65-F5344CB8AC3E}">
        <p14:creationId xmlns:p14="http://schemas.microsoft.com/office/powerpoint/2010/main" val="3005963029"/>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EE403-6232-D502-7341-DB9D37AA7BAB}"/>
              </a:ext>
            </a:extLst>
          </p:cNvPr>
          <p:cNvSpPr>
            <a:spLocks noGrp="1"/>
          </p:cNvSpPr>
          <p:nvPr>
            <p:ph type="ctrTitle"/>
          </p:nvPr>
        </p:nvSpPr>
        <p:spPr>
          <a:xfrm>
            <a:off x="1524000" y="1122364"/>
            <a:ext cx="9144000" cy="1144182"/>
          </a:xfrm>
        </p:spPr>
        <p:txBody>
          <a:bodyPr/>
          <a:lstStyle/>
          <a:p>
            <a:r>
              <a:rPr lang="he-IL" b="1" dirty="0"/>
              <a:t>פרויקט גמר</a:t>
            </a:r>
            <a:endParaRPr lang="en-US" b="1" dirty="0"/>
          </a:p>
        </p:txBody>
      </p:sp>
      <p:sp>
        <p:nvSpPr>
          <p:cNvPr id="3" name="Subtitle 2">
            <a:extLst>
              <a:ext uri="{FF2B5EF4-FFF2-40B4-BE49-F238E27FC236}">
                <a16:creationId xmlns:a16="http://schemas.microsoft.com/office/drawing/2014/main" id="{38E28C41-E225-187E-14BC-5ACA817EB6E5}"/>
              </a:ext>
            </a:extLst>
          </p:cNvPr>
          <p:cNvSpPr>
            <a:spLocks noGrp="1"/>
          </p:cNvSpPr>
          <p:nvPr>
            <p:ph type="subTitle" idx="1"/>
          </p:nvPr>
        </p:nvSpPr>
        <p:spPr>
          <a:xfrm>
            <a:off x="1524000" y="2431915"/>
            <a:ext cx="9144000" cy="2825885"/>
          </a:xfrm>
        </p:spPr>
        <p:txBody>
          <a:bodyPr/>
          <a:lstStyle/>
          <a:p>
            <a:endParaRPr lang="he-IL" dirty="0"/>
          </a:p>
          <a:p>
            <a:r>
              <a:rPr lang="he-IL" sz="4000" dirty="0">
                <a:cs typeface="+mj-cs"/>
              </a:rPr>
              <a:t>ניתוח פתיחת חשבונות וסגירת חשבונות</a:t>
            </a:r>
          </a:p>
          <a:p>
            <a:r>
              <a:rPr lang="he-IL" sz="4000" dirty="0">
                <a:cs typeface="+mj-cs"/>
              </a:rPr>
              <a:t> ופעולות פאסיב 2018-2023</a:t>
            </a:r>
            <a:r>
              <a:rPr lang="he-IL" dirty="0"/>
              <a:t> </a:t>
            </a:r>
            <a:endParaRPr lang="en-US" dirty="0"/>
          </a:p>
        </p:txBody>
      </p:sp>
    </p:spTree>
    <p:extLst>
      <p:ext uri="{BB962C8B-B14F-4D97-AF65-F5344CB8AC3E}">
        <p14:creationId xmlns:p14="http://schemas.microsoft.com/office/powerpoint/2010/main" val="4247504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FDB36-10E2-55BF-A870-9F363D3CB939}"/>
              </a:ext>
            </a:extLst>
          </p:cNvPr>
          <p:cNvSpPr>
            <a:spLocks noGrp="1"/>
          </p:cNvSpPr>
          <p:nvPr>
            <p:ph type="title"/>
          </p:nvPr>
        </p:nvSpPr>
        <p:spPr>
          <a:xfrm>
            <a:off x="831850" y="768351"/>
            <a:ext cx="10515600" cy="418424"/>
          </a:xfrm>
        </p:spPr>
        <p:txBody>
          <a:bodyPr>
            <a:noAutofit/>
          </a:bodyPr>
          <a:lstStyle/>
          <a:p>
            <a:pPr algn="r"/>
            <a:r>
              <a:rPr lang="he-IL" sz="2400" b="1" dirty="0"/>
              <a:t>תיאור כללי</a:t>
            </a:r>
            <a:endParaRPr lang="en-US" sz="2400" b="1" dirty="0"/>
          </a:p>
        </p:txBody>
      </p:sp>
      <p:sp>
        <p:nvSpPr>
          <p:cNvPr id="3" name="Text Placeholder 2">
            <a:extLst>
              <a:ext uri="{FF2B5EF4-FFF2-40B4-BE49-F238E27FC236}">
                <a16:creationId xmlns:a16="http://schemas.microsoft.com/office/drawing/2014/main" id="{77521E5E-6863-35DA-E5B5-DFE47AB3E4B4}"/>
              </a:ext>
            </a:extLst>
          </p:cNvPr>
          <p:cNvSpPr>
            <a:spLocks noGrp="1"/>
          </p:cNvSpPr>
          <p:nvPr>
            <p:ph type="body" idx="1"/>
          </p:nvPr>
        </p:nvSpPr>
        <p:spPr>
          <a:xfrm>
            <a:off x="831850" y="1264596"/>
            <a:ext cx="10515600" cy="4825055"/>
          </a:xfrm>
        </p:spPr>
        <p:txBody>
          <a:bodyPr>
            <a:noAutofit/>
          </a:bodyPr>
          <a:lstStyle/>
          <a:p>
            <a:pPr algn="r"/>
            <a:r>
              <a:rPr lang="he-IL" sz="2000" dirty="0">
                <a:solidFill>
                  <a:schemeClr val="tx1"/>
                </a:solidFill>
                <a:cs typeface="+mj-cs"/>
              </a:rPr>
              <a:t>כבנקאית באחד הסניפים של בנק לאומי תפקידי לתת שירות בנקאי ולבצע פעולות בנקאיות כגון פתיחת חשבונות עובר ושב לניהול פעולות ותשלומים לפי תנאים מסוימים וחשבונות תמורה לשמירת כספים ופעולות פאסיב (חסיונות ופיקדונות) ללא עמלות, הלוואות, הנפקת כרטיסים בנקאים וכו' . אחרי פתיחת חשבון וקבלת שירות מסוים הלקוח מוזמן למלא סקר חוות דעת על השירות שלי ועל הסניף של בנק לאומי. </a:t>
            </a:r>
          </a:p>
          <a:p>
            <a:pPr algn="r"/>
            <a:r>
              <a:rPr lang="he-IL" sz="2000" dirty="0">
                <a:solidFill>
                  <a:schemeClr val="tx1"/>
                </a:solidFill>
                <a:cs typeface="+mj-cs"/>
              </a:rPr>
              <a:t>בניתוח להלן אנחנו בוחנים את הנתונים של בסיס נתונים של הבנק ופעולות פתיחת חשבונות לפי סוגים (חשבונות עו"ש וחשבונות תמורה) וסגירת חשבונות, סניפים טובים ביותר בפתיחת חשבונות, כמה כסף הופקדו בפיקדונות, כמה תלונות הגישו בסקרים לקוחות של הבנק וקורלציה בין התלונות וסגירת חשבונות.</a:t>
            </a:r>
          </a:p>
          <a:p>
            <a:pPr algn="r"/>
            <a:r>
              <a:rPr lang="en-US" sz="2000" dirty="0">
                <a:solidFill>
                  <a:schemeClr val="tx1"/>
                </a:solidFill>
                <a:cs typeface="+mj-cs"/>
              </a:rPr>
              <a:t>.SQL</a:t>
            </a:r>
            <a:r>
              <a:rPr lang="he-IL" sz="2000" dirty="0">
                <a:solidFill>
                  <a:schemeClr val="tx1"/>
                </a:solidFill>
                <a:cs typeface="+mj-cs"/>
              </a:rPr>
              <a:t> ו</a:t>
            </a:r>
            <a:r>
              <a:rPr lang="en-US" sz="2000" dirty="0">
                <a:solidFill>
                  <a:schemeClr val="tx1"/>
                </a:solidFill>
                <a:cs typeface="+mj-cs"/>
              </a:rPr>
              <a:t>Python</a:t>
            </a:r>
            <a:r>
              <a:rPr lang="he-IL" sz="2000" dirty="0">
                <a:solidFill>
                  <a:schemeClr val="tx1"/>
                </a:solidFill>
                <a:cs typeface="+mj-cs"/>
              </a:rPr>
              <a:t> כל ניתוח בוצע ב2 כלים - </a:t>
            </a:r>
          </a:p>
          <a:p>
            <a:pPr algn="r"/>
            <a:r>
              <a:rPr lang="he-IL" sz="2000" dirty="0">
                <a:solidFill>
                  <a:schemeClr val="tx1"/>
                </a:solidFill>
                <a:cs typeface="+mj-cs"/>
              </a:rPr>
              <a:t>בניתוח נבחנו הנתונים של תקופה משנת 2018 עד שנת 2023.</a:t>
            </a:r>
          </a:p>
          <a:p>
            <a:pPr algn="r"/>
            <a:r>
              <a:rPr lang="he-IL" sz="2000" dirty="0">
                <a:solidFill>
                  <a:schemeClr val="tx1"/>
                </a:solidFill>
                <a:cs typeface="+mj-cs"/>
              </a:rPr>
              <a:t>שנת 2018, 2019 ו2020 עד חודש אפריל אפשר להגדיר כשנים רגילות. תקופה מאפריל שנת 2020 ועד סוף 2022 היא תקופת קורונה והבנק היה נאלץ להשקיע הרבה בפרסומות ולהוביל פרסום אגרסיבי. בתקופה מפברואר 2022 ועד אוקטובר שנת 2023 הייתה עליה גדולה מאוקראינה ורוסיה בגלל המלחמה וסנקציות. באוקטובר שנת 2023 שוב התחילה תקפה לא פשוטה לבנק ועסקום בגלל המלחמה עם עזה ולבנון.</a:t>
            </a:r>
          </a:p>
          <a:p>
            <a:pPr algn="r"/>
            <a:r>
              <a:rPr lang="he-IL" sz="2000" dirty="0">
                <a:solidFill>
                  <a:schemeClr val="tx1"/>
                </a:solidFill>
                <a:cs typeface="+mj-cs"/>
              </a:rPr>
              <a:t>בתחום בנקאות ניתן לחקור שאלות רבות כי התחום הבנקאות מושפע מגורמים שונים כגון מצב כלכלי ופוליטי, מגמות פיננסיות ומשברים </a:t>
            </a:r>
            <a:r>
              <a:rPr lang="he-IL" sz="2000" dirty="0" err="1">
                <a:solidFill>
                  <a:schemeClr val="tx1"/>
                </a:solidFill>
                <a:cs typeface="+mj-cs"/>
              </a:rPr>
              <a:t>וכ</a:t>
            </a:r>
            <a:r>
              <a:rPr lang="he-IL" sz="2000" dirty="0">
                <a:solidFill>
                  <a:schemeClr val="tx1"/>
                </a:solidFill>
                <a:cs typeface="+mj-cs"/>
              </a:rPr>
              <a:t>'. </a:t>
            </a:r>
            <a:endParaRPr lang="en-US" sz="2000" dirty="0">
              <a:solidFill>
                <a:schemeClr val="tx1"/>
              </a:solidFill>
              <a:cs typeface="+mj-cs"/>
            </a:endParaRPr>
          </a:p>
        </p:txBody>
      </p:sp>
    </p:spTree>
    <p:extLst>
      <p:ext uri="{BB962C8B-B14F-4D97-AF65-F5344CB8AC3E}">
        <p14:creationId xmlns:p14="http://schemas.microsoft.com/office/powerpoint/2010/main" val="3505510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4F5F3-F9CC-E601-D108-C74B7542A0BB}"/>
              </a:ext>
            </a:extLst>
          </p:cNvPr>
          <p:cNvSpPr>
            <a:spLocks noGrp="1"/>
          </p:cNvSpPr>
          <p:nvPr>
            <p:ph type="title"/>
          </p:nvPr>
        </p:nvSpPr>
        <p:spPr>
          <a:xfrm>
            <a:off x="656752" y="484054"/>
            <a:ext cx="10515600" cy="478984"/>
          </a:xfrm>
        </p:spPr>
        <p:txBody>
          <a:bodyPr>
            <a:normAutofit/>
          </a:bodyPr>
          <a:lstStyle/>
          <a:p>
            <a:pPr algn="r" rtl="1"/>
            <a:r>
              <a:rPr lang="he-IL" sz="2400" b="1" dirty="0"/>
              <a:t>תיאור של בסיס נתונים לניתוח</a:t>
            </a:r>
            <a:endParaRPr lang="en-US" sz="2400" b="1" dirty="0"/>
          </a:p>
        </p:txBody>
      </p:sp>
      <p:sp>
        <p:nvSpPr>
          <p:cNvPr id="3" name="Text Placeholder 2">
            <a:extLst>
              <a:ext uri="{FF2B5EF4-FFF2-40B4-BE49-F238E27FC236}">
                <a16:creationId xmlns:a16="http://schemas.microsoft.com/office/drawing/2014/main" id="{50C3332D-7716-9E07-20AA-0BB3FC805358}"/>
              </a:ext>
            </a:extLst>
          </p:cNvPr>
          <p:cNvSpPr>
            <a:spLocks noGrp="1"/>
          </p:cNvSpPr>
          <p:nvPr>
            <p:ph type="body" idx="1"/>
          </p:nvPr>
        </p:nvSpPr>
        <p:spPr>
          <a:xfrm>
            <a:off x="656752" y="1050587"/>
            <a:ext cx="10515600" cy="5323359"/>
          </a:xfrm>
        </p:spPr>
        <p:txBody>
          <a:bodyPr>
            <a:normAutofit/>
          </a:bodyPr>
          <a:lstStyle/>
          <a:p>
            <a:pPr algn="r" rtl="1"/>
            <a:r>
              <a:rPr lang="he-IL" dirty="0">
                <a:solidFill>
                  <a:schemeClr val="tx1"/>
                </a:solidFill>
                <a:cs typeface="+mj-cs"/>
              </a:rPr>
              <a:t>לניתוח נתונים של פעולות של הבנק נבחר בסיס נתונים</a:t>
            </a:r>
            <a:r>
              <a:rPr lang="en-US" dirty="0">
                <a:solidFill>
                  <a:schemeClr val="tx1"/>
                </a:solidFill>
                <a:cs typeface="+mj-cs"/>
              </a:rPr>
              <a:t> BANKMATSLIAKH </a:t>
            </a:r>
            <a:r>
              <a:rPr lang="he-IL" dirty="0">
                <a:solidFill>
                  <a:schemeClr val="tx1"/>
                </a:solidFill>
                <a:cs typeface="+mj-cs"/>
              </a:rPr>
              <a:t>מבוסס על הנתונים שנאספו אודות הבנק וכולל </a:t>
            </a:r>
            <a:r>
              <a:rPr lang="en-US" dirty="0">
                <a:solidFill>
                  <a:schemeClr val="tx1"/>
                </a:solidFill>
                <a:cs typeface="+mj-cs"/>
              </a:rPr>
              <a:t>6</a:t>
            </a:r>
            <a:r>
              <a:rPr lang="he-IL" dirty="0">
                <a:solidFill>
                  <a:schemeClr val="tx1"/>
                </a:solidFill>
                <a:cs typeface="+mj-cs"/>
              </a:rPr>
              <a:t> טבלאות כגון:</a:t>
            </a:r>
            <a:endParaRPr lang="en-US" dirty="0">
              <a:solidFill>
                <a:schemeClr val="tx1"/>
              </a:solidFill>
              <a:cs typeface="+mj-cs"/>
            </a:endParaRPr>
          </a:p>
          <a:p>
            <a:pPr marL="342900" lvl="0" indent="-342900" algn="r" rtl="1">
              <a:spcBef>
                <a:spcPts val="1800"/>
              </a:spcBef>
              <a:buFont typeface="Arial" panose="020B0604020202020204" pitchFamily="34" charset="0"/>
              <a:buChar char="•"/>
            </a:pPr>
            <a:r>
              <a:rPr lang="he-IL" dirty="0">
                <a:solidFill>
                  <a:schemeClr val="tx1"/>
                </a:solidFill>
                <a:cs typeface="+mj-cs"/>
              </a:rPr>
              <a:t>טבלת </a:t>
            </a:r>
            <a:r>
              <a:rPr lang="en-US" dirty="0">
                <a:solidFill>
                  <a:schemeClr val="tx1"/>
                </a:solidFill>
                <a:cs typeface="+mj-cs"/>
              </a:rPr>
              <a:t>Bankers</a:t>
            </a:r>
            <a:r>
              <a:rPr lang="he-IL" dirty="0">
                <a:solidFill>
                  <a:schemeClr val="tx1"/>
                </a:solidFill>
                <a:cs typeface="+mj-cs"/>
              </a:rPr>
              <a:t> כוללת נתונים של העובדי הבנק </a:t>
            </a:r>
            <a:endParaRPr lang="en-US" dirty="0">
              <a:solidFill>
                <a:schemeClr val="tx1"/>
              </a:solidFill>
              <a:cs typeface="+mj-cs"/>
            </a:endParaRPr>
          </a:p>
          <a:p>
            <a:pPr marL="342900" lvl="0" indent="-342900" algn="r" rtl="1">
              <a:spcBef>
                <a:spcPts val="1800"/>
              </a:spcBef>
              <a:buFont typeface="Arial" panose="020B0604020202020204" pitchFamily="34" charset="0"/>
              <a:buChar char="•"/>
            </a:pPr>
            <a:r>
              <a:rPr lang="he-IL" dirty="0">
                <a:solidFill>
                  <a:schemeClr val="tx1"/>
                </a:solidFill>
                <a:cs typeface="+mj-cs"/>
              </a:rPr>
              <a:t>טבלת </a:t>
            </a:r>
            <a:r>
              <a:rPr lang="en-US" dirty="0">
                <a:solidFill>
                  <a:schemeClr val="tx1"/>
                </a:solidFill>
                <a:cs typeface="+mj-cs"/>
              </a:rPr>
              <a:t>Clients</a:t>
            </a:r>
            <a:r>
              <a:rPr lang="he-IL" dirty="0">
                <a:solidFill>
                  <a:schemeClr val="tx1"/>
                </a:solidFill>
                <a:cs typeface="+mj-cs"/>
              </a:rPr>
              <a:t> כוללת נתונים של הלקוחות הבנק; </a:t>
            </a:r>
            <a:endParaRPr lang="en-US" dirty="0">
              <a:solidFill>
                <a:schemeClr val="tx1"/>
              </a:solidFill>
              <a:cs typeface="+mj-cs"/>
            </a:endParaRPr>
          </a:p>
          <a:p>
            <a:pPr marL="342900" lvl="0" indent="-342900" algn="r" rtl="1">
              <a:spcBef>
                <a:spcPts val="1800"/>
              </a:spcBef>
              <a:buFont typeface="Arial" panose="020B0604020202020204" pitchFamily="34" charset="0"/>
              <a:buChar char="•"/>
            </a:pPr>
            <a:r>
              <a:rPr lang="he-IL" dirty="0">
                <a:solidFill>
                  <a:schemeClr val="tx1"/>
                </a:solidFill>
                <a:cs typeface="+mj-cs"/>
              </a:rPr>
              <a:t>טבלת </a:t>
            </a:r>
            <a:r>
              <a:rPr lang="en-US" dirty="0">
                <a:solidFill>
                  <a:schemeClr val="tx1"/>
                </a:solidFill>
                <a:cs typeface="+mj-cs"/>
              </a:rPr>
              <a:t>Accounts</a:t>
            </a:r>
            <a:r>
              <a:rPr lang="he-IL" dirty="0">
                <a:solidFill>
                  <a:schemeClr val="tx1"/>
                </a:solidFill>
                <a:cs typeface="+mj-cs"/>
              </a:rPr>
              <a:t> כוללת נתונים של החשבנות שנפתחו בבנק;</a:t>
            </a:r>
            <a:endParaRPr lang="en-US" dirty="0">
              <a:solidFill>
                <a:schemeClr val="tx1"/>
              </a:solidFill>
              <a:cs typeface="+mj-cs"/>
            </a:endParaRPr>
          </a:p>
          <a:p>
            <a:pPr lvl="0" algn="r" rtl="1">
              <a:spcBef>
                <a:spcPts val="0"/>
              </a:spcBef>
            </a:pPr>
            <a:r>
              <a:rPr lang="en-US" dirty="0">
                <a:solidFill>
                  <a:schemeClr val="tx1"/>
                </a:solidFill>
                <a:cs typeface="+mj-cs"/>
              </a:rPr>
              <a:t>  	</a:t>
            </a:r>
            <a:r>
              <a:rPr lang="he-IL" dirty="0">
                <a:solidFill>
                  <a:schemeClr val="tx1"/>
                </a:solidFill>
                <a:cs typeface="+mj-cs"/>
              </a:rPr>
              <a:t>חשבון תמורה מיועד רק לשמירת כסף – סוג </a:t>
            </a:r>
            <a:r>
              <a:rPr lang="en-US" dirty="0">
                <a:solidFill>
                  <a:schemeClr val="tx1"/>
                </a:solidFill>
                <a:cs typeface="+mj-cs"/>
              </a:rPr>
              <a:t>Savings</a:t>
            </a:r>
            <a:r>
              <a:rPr lang="he-IL" dirty="0">
                <a:solidFill>
                  <a:schemeClr val="tx1"/>
                </a:solidFill>
                <a:cs typeface="+mj-cs"/>
              </a:rPr>
              <a:t> .</a:t>
            </a:r>
          </a:p>
          <a:p>
            <a:pPr lvl="0" algn="r" rtl="1">
              <a:spcBef>
                <a:spcPts val="0"/>
              </a:spcBef>
            </a:pPr>
            <a:r>
              <a:rPr lang="he-IL" dirty="0">
                <a:solidFill>
                  <a:schemeClr val="tx1"/>
                </a:solidFill>
                <a:cs typeface="+mj-cs"/>
              </a:rPr>
              <a:t>	חשבון עובר ושב מיועד גם לשמירת כסף וגם לפעולות שונות – סוג </a:t>
            </a:r>
            <a:r>
              <a:rPr lang="en-US" dirty="0">
                <a:solidFill>
                  <a:schemeClr val="tx1"/>
                </a:solidFill>
                <a:cs typeface="+mj-cs"/>
              </a:rPr>
              <a:t>Current</a:t>
            </a:r>
            <a:r>
              <a:rPr lang="he-IL" dirty="0">
                <a:solidFill>
                  <a:schemeClr val="tx1"/>
                </a:solidFill>
                <a:cs typeface="+mj-cs"/>
              </a:rPr>
              <a:t> .</a:t>
            </a:r>
            <a:endParaRPr lang="en-US" dirty="0">
              <a:solidFill>
                <a:schemeClr val="tx1"/>
              </a:solidFill>
              <a:cs typeface="+mj-cs"/>
            </a:endParaRPr>
          </a:p>
          <a:p>
            <a:pPr marL="342900" lvl="0" indent="-342900" algn="r" rtl="1">
              <a:spcBef>
                <a:spcPts val="1800"/>
              </a:spcBef>
              <a:buFont typeface="Arial" panose="020B0604020202020204" pitchFamily="34" charset="0"/>
              <a:buChar char="•"/>
            </a:pPr>
            <a:r>
              <a:rPr lang="he-IL" dirty="0">
                <a:solidFill>
                  <a:schemeClr val="tx1"/>
                </a:solidFill>
                <a:cs typeface="+mj-cs"/>
              </a:rPr>
              <a:t>טבלת </a:t>
            </a:r>
            <a:r>
              <a:rPr lang="en-US" dirty="0">
                <a:solidFill>
                  <a:schemeClr val="tx1"/>
                </a:solidFill>
                <a:cs typeface="+mj-cs"/>
              </a:rPr>
              <a:t>Deposits</a:t>
            </a:r>
            <a:r>
              <a:rPr lang="he-IL" dirty="0">
                <a:solidFill>
                  <a:schemeClr val="tx1"/>
                </a:solidFill>
                <a:cs typeface="+mj-cs"/>
              </a:rPr>
              <a:t> כוללת נתונים של הפיקדונות שנפתחו בבנק;</a:t>
            </a:r>
            <a:endParaRPr lang="en-US" dirty="0">
              <a:solidFill>
                <a:schemeClr val="tx1"/>
              </a:solidFill>
              <a:cs typeface="+mj-cs"/>
            </a:endParaRPr>
          </a:p>
          <a:p>
            <a:pPr marL="342900" indent="-342900" algn="r" rtl="1">
              <a:spcBef>
                <a:spcPts val="1800"/>
              </a:spcBef>
              <a:buFont typeface="Arial" panose="020B0604020202020204" pitchFamily="34" charset="0"/>
              <a:buChar char="•"/>
            </a:pPr>
            <a:r>
              <a:rPr lang="he-IL" dirty="0">
                <a:solidFill>
                  <a:schemeClr val="tx1"/>
                </a:solidFill>
                <a:cs typeface="+mj-cs"/>
              </a:rPr>
              <a:t>טבלת </a:t>
            </a:r>
            <a:r>
              <a:rPr lang="en-US" dirty="0">
                <a:solidFill>
                  <a:schemeClr val="tx1"/>
                </a:solidFill>
                <a:cs typeface="+mj-cs"/>
              </a:rPr>
              <a:t>Loans</a:t>
            </a:r>
            <a:r>
              <a:rPr lang="he-IL" dirty="0">
                <a:solidFill>
                  <a:schemeClr val="tx1"/>
                </a:solidFill>
                <a:cs typeface="+mj-cs"/>
              </a:rPr>
              <a:t> כוללת נתונים של ההלוואות ומשכנתאות שהלקוחות לקחו בבנק;</a:t>
            </a:r>
            <a:endParaRPr lang="en-US" dirty="0">
              <a:solidFill>
                <a:schemeClr val="tx1"/>
              </a:solidFill>
              <a:cs typeface="+mj-cs"/>
            </a:endParaRPr>
          </a:p>
          <a:p>
            <a:pPr marL="342900" lvl="0" indent="-342900" algn="r" rtl="1">
              <a:spcBef>
                <a:spcPts val="1800"/>
              </a:spcBef>
              <a:buFont typeface="Arial" panose="020B0604020202020204" pitchFamily="34" charset="0"/>
              <a:buChar char="•"/>
            </a:pPr>
            <a:r>
              <a:rPr lang="he-IL" dirty="0">
                <a:solidFill>
                  <a:schemeClr val="tx1"/>
                </a:solidFill>
                <a:cs typeface="+mj-cs"/>
              </a:rPr>
              <a:t>טבלת </a:t>
            </a:r>
            <a:r>
              <a:rPr lang="en-US" dirty="0">
                <a:solidFill>
                  <a:schemeClr val="tx1"/>
                </a:solidFill>
                <a:cs typeface="+mj-cs"/>
              </a:rPr>
              <a:t>Cards</a:t>
            </a:r>
            <a:r>
              <a:rPr lang="he-IL" dirty="0">
                <a:solidFill>
                  <a:schemeClr val="tx1"/>
                </a:solidFill>
                <a:cs typeface="+mj-cs"/>
              </a:rPr>
              <a:t> כוללת נתונים של כרטיסים בנקאים שהונפקו ללקוחות של הבנק.</a:t>
            </a:r>
            <a:endParaRPr lang="en-US" dirty="0">
              <a:solidFill>
                <a:schemeClr val="tx1"/>
              </a:solidFill>
              <a:cs typeface="+mj-cs"/>
            </a:endParaRPr>
          </a:p>
          <a:p>
            <a:pPr algn="r" rtl="1"/>
            <a:endParaRPr lang="en-US" dirty="0">
              <a:cs typeface="+mj-cs"/>
            </a:endParaRPr>
          </a:p>
        </p:txBody>
      </p:sp>
    </p:spTree>
    <p:extLst>
      <p:ext uri="{BB962C8B-B14F-4D97-AF65-F5344CB8AC3E}">
        <p14:creationId xmlns:p14="http://schemas.microsoft.com/office/powerpoint/2010/main" val="3942776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F18BD-4A79-9A31-6319-C96C35E40588}"/>
              </a:ext>
            </a:extLst>
          </p:cNvPr>
          <p:cNvSpPr>
            <a:spLocks noGrp="1"/>
          </p:cNvSpPr>
          <p:nvPr>
            <p:ph type="title"/>
          </p:nvPr>
        </p:nvSpPr>
        <p:spPr>
          <a:xfrm>
            <a:off x="676207" y="503509"/>
            <a:ext cx="10515600" cy="692994"/>
          </a:xfrm>
        </p:spPr>
        <p:txBody>
          <a:bodyPr>
            <a:normAutofit/>
          </a:bodyPr>
          <a:lstStyle/>
          <a:p>
            <a:pPr algn="r"/>
            <a:r>
              <a:rPr lang="he-IL" sz="2400" b="1" dirty="0"/>
              <a:t>שאלות עסקיות לניתוח</a:t>
            </a:r>
            <a:endParaRPr lang="en-US" sz="2400" b="1" dirty="0"/>
          </a:p>
        </p:txBody>
      </p:sp>
      <p:sp>
        <p:nvSpPr>
          <p:cNvPr id="3" name="Text Placeholder 2">
            <a:extLst>
              <a:ext uri="{FF2B5EF4-FFF2-40B4-BE49-F238E27FC236}">
                <a16:creationId xmlns:a16="http://schemas.microsoft.com/office/drawing/2014/main" id="{7CA6B894-F331-C3FE-54D9-F25817C21223}"/>
              </a:ext>
            </a:extLst>
          </p:cNvPr>
          <p:cNvSpPr>
            <a:spLocks noGrp="1"/>
          </p:cNvSpPr>
          <p:nvPr>
            <p:ph type="body" idx="1"/>
          </p:nvPr>
        </p:nvSpPr>
        <p:spPr>
          <a:xfrm>
            <a:off x="676207" y="1332689"/>
            <a:ext cx="10515600" cy="4699861"/>
          </a:xfrm>
        </p:spPr>
        <p:txBody>
          <a:bodyPr>
            <a:normAutofit/>
          </a:bodyPr>
          <a:lstStyle/>
          <a:p>
            <a:pPr marL="342900" indent="-342900" algn="r" rtl="1">
              <a:spcBef>
                <a:spcPts val="1800"/>
              </a:spcBef>
              <a:buFont typeface="Arial" panose="020B0604020202020204" pitchFamily="34" charset="0"/>
              <a:buChar char="•"/>
            </a:pPr>
            <a:r>
              <a:rPr lang="he-IL" dirty="0">
                <a:solidFill>
                  <a:schemeClr val="tx1"/>
                </a:solidFill>
                <a:cs typeface="+mj-cs"/>
              </a:rPr>
              <a:t>כמות חשבונות תמורה וחשבונות עובר ושב שנפתחו בכל רביעון ובכל שנה של התקופה 2018-2022.</a:t>
            </a:r>
          </a:p>
          <a:p>
            <a:pPr marL="342900" indent="-342900" algn="r" rtl="1">
              <a:spcBef>
                <a:spcPts val="1800"/>
              </a:spcBef>
              <a:buFont typeface="Arial" panose="020B0604020202020204" pitchFamily="34" charset="0"/>
              <a:buChar char="•"/>
            </a:pPr>
            <a:r>
              <a:rPr lang="he-IL" dirty="0">
                <a:solidFill>
                  <a:schemeClr val="tx1"/>
                </a:solidFill>
                <a:cs typeface="+mj-cs"/>
              </a:rPr>
              <a:t>5 סניפים שפתחו כמות חשבונות גדולה ביותר בתקופה 2018-2022.</a:t>
            </a:r>
          </a:p>
          <a:p>
            <a:pPr marL="342900" indent="-342900" algn="r" rtl="1">
              <a:spcBef>
                <a:spcPts val="1800"/>
              </a:spcBef>
              <a:buFont typeface="Arial" panose="020B0604020202020204" pitchFamily="34" charset="0"/>
              <a:buChar char="•"/>
            </a:pPr>
            <a:r>
              <a:rPr lang="he-IL" dirty="0">
                <a:solidFill>
                  <a:schemeClr val="tx1"/>
                </a:solidFill>
                <a:cs typeface="+mj-cs"/>
              </a:rPr>
              <a:t>סכומים כספים שהופקדו בפיקדונות בכל רביעון ובכל שנה של התקופה 2018-2022.</a:t>
            </a:r>
          </a:p>
          <a:p>
            <a:pPr marL="342900" indent="-342900" algn="r" rtl="1">
              <a:spcBef>
                <a:spcPts val="1800"/>
              </a:spcBef>
              <a:buFont typeface="Arial" panose="020B0604020202020204" pitchFamily="34" charset="0"/>
              <a:buChar char="•"/>
            </a:pPr>
            <a:r>
              <a:rPr lang="he-IL" dirty="0">
                <a:solidFill>
                  <a:schemeClr val="tx1"/>
                </a:solidFill>
                <a:cs typeface="+mj-cs"/>
              </a:rPr>
              <a:t>כמות חשבונות שנסגרו בכל חודש בשנת 2023.</a:t>
            </a:r>
          </a:p>
          <a:p>
            <a:pPr marL="342900" indent="-342900" algn="r" rtl="1">
              <a:spcBef>
                <a:spcPts val="1800"/>
              </a:spcBef>
              <a:buFont typeface="Arial" panose="020B0604020202020204" pitchFamily="34" charset="0"/>
              <a:buChar char="•"/>
            </a:pPr>
            <a:r>
              <a:rPr lang="he-IL" dirty="0">
                <a:solidFill>
                  <a:schemeClr val="tx1"/>
                </a:solidFill>
                <a:cs typeface="+mj-cs"/>
              </a:rPr>
              <a:t>קורלציה בין כמות תלונות של לקוחות וכמות חשבונות שנסגרו בכל חודש של שנת 2023.</a:t>
            </a:r>
          </a:p>
        </p:txBody>
      </p:sp>
    </p:spTree>
    <p:extLst>
      <p:ext uri="{BB962C8B-B14F-4D97-AF65-F5344CB8AC3E}">
        <p14:creationId xmlns:p14="http://schemas.microsoft.com/office/powerpoint/2010/main" val="1289824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B6138-346A-C904-A4D6-1A14A5925CF3}"/>
              </a:ext>
            </a:extLst>
          </p:cNvPr>
          <p:cNvSpPr>
            <a:spLocks noGrp="1"/>
          </p:cNvSpPr>
          <p:nvPr>
            <p:ph type="title"/>
          </p:nvPr>
        </p:nvSpPr>
        <p:spPr>
          <a:xfrm>
            <a:off x="838200" y="365126"/>
            <a:ext cx="10515600" cy="588186"/>
          </a:xfrm>
        </p:spPr>
        <p:txBody>
          <a:bodyPr>
            <a:noAutofit/>
          </a:bodyPr>
          <a:lstStyle/>
          <a:p>
            <a:pPr algn="r"/>
            <a:r>
              <a:rPr lang="he-IL" sz="2300" b="1" dirty="0"/>
              <a:t>כמות חשבונות תמורה וחשבונות עובר ושב שנפתחו בכל רביעון ובכל שנה של התקופה 2018-2022</a:t>
            </a:r>
            <a:endParaRPr lang="en-US" sz="2300" b="1" dirty="0"/>
          </a:p>
        </p:txBody>
      </p:sp>
      <p:graphicFrame>
        <p:nvGraphicFramePr>
          <p:cNvPr id="12" name="Content Placeholder 11">
            <a:extLst>
              <a:ext uri="{FF2B5EF4-FFF2-40B4-BE49-F238E27FC236}">
                <a16:creationId xmlns:a16="http://schemas.microsoft.com/office/drawing/2014/main" id="{ED5CDA99-34F7-4CED-5F2D-3D1D25296C8D}"/>
              </a:ext>
            </a:extLst>
          </p:cNvPr>
          <p:cNvGraphicFramePr>
            <a:graphicFrameLocks noGrp="1"/>
          </p:cNvGraphicFramePr>
          <p:nvPr>
            <p:ph idx="1"/>
            <p:extLst>
              <p:ext uri="{D42A27DB-BD31-4B8C-83A1-F6EECF244321}">
                <p14:modId xmlns:p14="http://schemas.microsoft.com/office/powerpoint/2010/main" val="4220513144"/>
              </p:ext>
            </p:extLst>
          </p:nvPr>
        </p:nvGraphicFramePr>
        <p:xfrm>
          <a:off x="838200" y="1079770"/>
          <a:ext cx="10515596" cy="4825095"/>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3109840352"/>
                    </a:ext>
                  </a:extLst>
                </a:gridCol>
                <a:gridCol w="1502228">
                  <a:extLst>
                    <a:ext uri="{9D8B030D-6E8A-4147-A177-3AD203B41FA5}">
                      <a16:colId xmlns:a16="http://schemas.microsoft.com/office/drawing/2014/main" val="2876038780"/>
                    </a:ext>
                  </a:extLst>
                </a:gridCol>
                <a:gridCol w="1502228">
                  <a:extLst>
                    <a:ext uri="{9D8B030D-6E8A-4147-A177-3AD203B41FA5}">
                      <a16:colId xmlns:a16="http://schemas.microsoft.com/office/drawing/2014/main" val="1498424152"/>
                    </a:ext>
                  </a:extLst>
                </a:gridCol>
                <a:gridCol w="1502228">
                  <a:extLst>
                    <a:ext uri="{9D8B030D-6E8A-4147-A177-3AD203B41FA5}">
                      <a16:colId xmlns:a16="http://schemas.microsoft.com/office/drawing/2014/main" val="1865733531"/>
                    </a:ext>
                  </a:extLst>
                </a:gridCol>
                <a:gridCol w="1502228">
                  <a:extLst>
                    <a:ext uri="{9D8B030D-6E8A-4147-A177-3AD203B41FA5}">
                      <a16:colId xmlns:a16="http://schemas.microsoft.com/office/drawing/2014/main" val="229970396"/>
                    </a:ext>
                  </a:extLst>
                </a:gridCol>
                <a:gridCol w="1502228">
                  <a:extLst>
                    <a:ext uri="{9D8B030D-6E8A-4147-A177-3AD203B41FA5}">
                      <a16:colId xmlns:a16="http://schemas.microsoft.com/office/drawing/2014/main" val="2222484096"/>
                    </a:ext>
                  </a:extLst>
                </a:gridCol>
                <a:gridCol w="1502228">
                  <a:extLst>
                    <a:ext uri="{9D8B030D-6E8A-4147-A177-3AD203B41FA5}">
                      <a16:colId xmlns:a16="http://schemas.microsoft.com/office/drawing/2014/main" val="3639632695"/>
                    </a:ext>
                  </a:extLst>
                </a:gridCol>
              </a:tblGrid>
              <a:tr h="438645">
                <a:tc>
                  <a:txBody>
                    <a:bodyPr/>
                    <a:lstStyle/>
                    <a:p>
                      <a:pPr algn="ctr" fontAlgn="ctr">
                        <a:buNone/>
                      </a:pPr>
                      <a:r>
                        <a:rPr lang="en-US" sz="1600" b="1" u="none" strike="noStrike" dirty="0">
                          <a:solidFill>
                            <a:srgbClr val="000000"/>
                          </a:solidFill>
                          <a:effectLst/>
                        </a:rPr>
                        <a:t>Year</a:t>
                      </a:r>
                      <a:endParaRPr lang="en-US" sz="16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600" b="1" u="none" strike="noStrike">
                          <a:solidFill>
                            <a:srgbClr val="000000"/>
                          </a:solidFill>
                          <a:effectLst/>
                        </a:rPr>
                        <a:t>AccountType</a:t>
                      </a:r>
                      <a:endParaRPr lang="en-US" sz="16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600" b="1" u="none" strike="noStrike" dirty="0">
                          <a:solidFill>
                            <a:srgbClr val="000000"/>
                          </a:solidFill>
                          <a:effectLst/>
                        </a:rPr>
                        <a:t>Q1</a:t>
                      </a:r>
                      <a:endParaRPr lang="en-US" sz="16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600" b="1" u="none" strike="noStrike" dirty="0">
                          <a:solidFill>
                            <a:srgbClr val="000000"/>
                          </a:solidFill>
                          <a:effectLst/>
                        </a:rPr>
                        <a:t>Q2</a:t>
                      </a:r>
                      <a:endParaRPr lang="en-US" sz="16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600" b="1" u="none" strike="noStrike" dirty="0">
                          <a:solidFill>
                            <a:srgbClr val="000000"/>
                          </a:solidFill>
                          <a:effectLst/>
                        </a:rPr>
                        <a:t>Q3</a:t>
                      </a:r>
                      <a:endParaRPr lang="en-US" sz="16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600" b="1" u="none" strike="noStrike">
                          <a:solidFill>
                            <a:srgbClr val="000000"/>
                          </a:solidFill>
                          <a:effectLst/>
                        </a:rPr>
                        <a:t>Q4</a:t>
                      </a:r>
                      <a:endParaRPr lang="en-US" sz="16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600" b="1" u="none" strike="noStrike">
                          <a:solidFill>
                            <a:srgbClr val="000000"/>
                          </a:solidFill>
                          <a:effectLst/>
                        </a:rPr>
                        <a:t>TotalYear</a:t>
                      </a:r>
                      <a:endParaRPr lang="en-US" sz="16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58461103"/>
                  </a:ext>
                </a:extLst>
              </a:tr>
              <a:tr h="438645">
                <a:tc>
                  <a:txBody>
                    <a:bodyPr/>
                    <a:lstStyle/>
                    <a:p>
                      <a:pPr algn="ctr" fontAlgn="b">
                        <a:buNone/>
                      </a:pPr>
                      <a:r>
                        <a:rPr lang="en-US" sz="1600" b="0" u="none" strike="noStrike" dirty="0">
                          <a:solidFill>
                            <a:srgbClr val="000000"/>
                          </a:solidFill>
                          <a:effectLst/>
                        </a:rPr>
                        <a:t>2022</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Current</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22</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17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34</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99</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94798879"/>
                  </a:ext>
                </a:extLst>
              </a:tr>
              <a:tr h="438645">
                <a:tc>
                  <a:txBody>
                    <a:bodyPr/>
                    <a:lstStyle/>
                    <a:p>
                      <a:pPr algn="ctr" fontAlgn="b">
                        <a:buNone/>
                      </a:pPr>
                      <a:r>
                        <a:rPr lang="en-US" sz="1600" b="0" u="none" strike="noStrike">
                          <a:solidFill>
                            <a:srgbClr val="000000"/>
                          </a:solidFill>
                          <a:effectLst/>
                        </a:rPr>
                        <a:t>2022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Savings</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28</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17</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37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103</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55265777"/>
                  </a:ext>
                </a:extLst>
              </a:tr>
              <a:tr h="438645">
                <a:tc>
                  <a:txBody>
                    <a:bodyPr/>
                    <a:lstStyle/>
                    <a:p>
                      <a:pPr algn="ctr" fontAlgn="b">
                        <a:buNone/>
                      </a:pPr>
                      <a:r>
                        <a:rPr lang="en-US" sz="1600" b="0" u="none" strike="noStrike">
                          <a:solidFill>
                            <a:srgbClr val="000000"/>
                          </a:solidFill>
                          <a:effectLst/>
                        </a:rPr>
                        <a:t>2021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Current</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15</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9</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18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47</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98923369"/>
                  </a:ext>
                </a:extLst>
              </a:tr>
              <a:tr h="438645">
                <a:tc>
                  <a:txBody>
                    <a:bodyPr/>
                    <a:lstStyle/>
                    <a:p>
                      <a:pPr algn="ctr" fontAlgn="b">
                        <a:buNone/>
                      </a:pPr>
                      <a:r>
                        <a:rPr lang="en-US" sz="1600" b="0" u="none" strike="noStrike">
                          <a:solidFill>
                            <a:srgbClr val="000000"/>
                          </a:solidFill>
                          <a:effectLst/>
                        </a:rPr>
                        <a:t>2021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Savings</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20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3</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18</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47</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01109041"/>
                  </a:ext>
                </a:extLst>
              </a:tr>
              <a:tr h="438645">
                <a:tc>
                  <a:txBody>
                    <a:bodyPr/>
                    <a:lstStyle/>
                    <a:p>
                      <a:pPr algn="ctr" fontAlgn="b">
                        <a:buNone/>
                      </a:pPr>
                      <a:r>
                        <a:rPr lang="en-US" sz="1600" b="0" u="none" strike="noStrike">
                          <a:solidFill>
                            <a:srgbClr val="000000"/>
                          </a:solidFill>
                          <a:effectLst/>
                        </a:rPr>
                        <a:t>2020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Current</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32</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24</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37</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31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124</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3323464"/>
                  </a:ext>
                </a:extLst>
              </a:tr>
              <a:tr h="438645">
                <a:tc>
                  <a:txBody>
                    <a:bodyPr/>
                    <a:lstStyle/>
                    <a:p>
                      <a:pPr algn="ctr" fontAlgn="b">
                        <a:buNone/>
                      </a:pPr>
                      <a:r>
                        <a:rPr lang="en-US" sz="1600" b="0" u="none" strike="noStrike">
                          <a:solidFill>
                            <a:srgbClr val="000000"/>
                          </a:solidFill>
                          <a:effectLst/>
                        </a:rPr>
                        <a:t>2020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Savings</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36</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29</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26</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118</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58043943"/>
                  </a:ext>
                </a:extLst>
              </a:tr>
              <a:tr h="438645">
                <a:tc>
                  <a:txBody>
                    <a:bodyPr/>
                    <a:lstStyle/>
                    <a:p>
                      <a:pPr algn="ctr" fontAlgn="b">
                        <a:buNone/>
                      </a:pPr>
                      <a:r>
                        <a:rPr lang="en-US" sz="1600" b="0" u="none" strike="noStrike">
                          <a:solidFill>
                            <a:srgbClr val="000000"/>
                          </a:solidFill>
                          <a:effectLst/>
                        </a:rPr>
                        <a:t>2019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Current</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24</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73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30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17</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144</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69242068"/>
                  </a:ext>
                </a:extLst>
              </a:tr>
              <a:tr h="438645">
                <a:tc>
                  <a:txBody>
                    <a:bodyPr/>
                    <a:lstStyle/>
                    <a:p>
                      <a:pPr algn="ctr" fontAlgn="b">
                        <a:buNone/>
                      </a:pPr>
                      <a:r>
                        <a:rPr lang="en-US" sz="1600" b="0" u="none" strike="noStrike">
                          <a:solidFill>
                            <a:srgbClr val="000000"/>
                          </a:solidFill>
                          <a:effectLst/>
                        </a:rPr>
                        <a:t>2019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Savings</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34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87</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33</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178</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04549291"/>
                  </a:ext>
                </a:extLst>
              </a:tr>
              <a:tr h="438645">
                <a:tc>
                  <a:txBody>
                    <a:bodyPr/>
                    <a:lstStyle/>
                    <a:p>
                      <a:pPr algn="ctr" fontAlgn="b">
                        <a:buNone/>
                      </a:pPr>
                      <a:r>
                        <a:rPr lang="en-US" sz="1600" b="0" u="none" strike="noStrike">
                          <a:solidFill>
                            <a:srgbClr val="000000"/>
                          </a:solidFill>
                          <a:effectLst/>
                        </a:rPr>
                        <a:t>2018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Current</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32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30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111</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04876061"/>
                  </a:ext>
                </a:extLst>
              </a:tr>
              <a:tr h="438645">
                <a:tc>
                  <a:txBody>
                    <a:bodyPr/>
                    <a:lstStyle/>
                    <a:p>
                      <a:pPr algn="ctr" fontAlgn="b">
                        <a:buNone/>
                      </a:pPr>
                      <a:r>
                        <a:rPr lang="en-US" sz="1600" b="0" u="none" strike="noStrike">
                          <a:solidFill>
                            <a:srgbClr val="000000"/>
                          </a:solidFill>
                          <a:effectLst/>
                        </a:rPr>
                        <a:t>2018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Savings</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a:solidFill>
                            <a:srgbClr val="000000"/>
                          </a:solidFill>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1600" b="0" u="none" strike="noStrike" dirty="0">
                          <a:solidFill>
                            <a:srgbClr val="000000"/>
                          </a:solidFill>
                          <a:effectLst/>
                        </a:rPr>
                        <a:t>95</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96385669"/>
                  </a:ext>
                </a:extLst>
              </a:tr>
            </a:tbl>
          </a:graphicData>
        </a:graphic>
      </p:graphicFrame>
    </p:spTree>
    <p:extLst>
      <p:ext uri="{BB962C8B-B14F-4D97-AF65-F5344CB8AC3E}">
        <p14:creationId xmlns:p14="http://schemas.microsoft.com/office/powerpoint/2010/main" val="3667619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11225-85E7-C2EF-E7B2-1F758817F40A}"/>
              </a:ext>
            </a:extLst>
          </p:cNvPr>
          <p:cNvSpPr>
            <a:spLocks noGrp="1"/>
          </p:cNvSpPr>
          <p:nvPr>
            <p:ph type="title"/>
          </p:nvPr>
        </p:nvSpPr>
        <p:spPr/>
        <p:txBody>
          <a:bodyPr>
            <a:normAutofit/>
          </a:bodyPr>
          <a:lstStyle/>
          <a:p>
            <a:pPr algn="r"/>
            <a:r>
              <a:rPr lang="he-IL" sz="2400" b="1" dirty="0"/>
              <a:t>גרפים של ניתוח – חלוקה לפי סוגי חשבונות ושנים</a:t>
            </a:r>
            <a:endParaRPr lang="en-US" sz="2400" b="1" dirty="0"/>
          </a:p>
        </p:txBody>
      </p:sp>
      <p:pic>
        <p:nvPicPr>
          <p:cNvPr id="6" name="Content Placeholder 5">
            <a:extLst>
              <a:ext uri="{FF2B5EF4-FFF2-40B4-BE49-F238E27FC236}">
                <a16:creationId xmlns:a16="http://schemas.microsoft.com/office/drawing/2014/main" id="{8D7EA9BC-BA7D-0FF6-36E8-A8882EEA6C7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76655" y="1891388"/>
            <a:ext cx="6001966" cy="3575908"/>
          </a:xfrm>
          <a:prstGeom prst="rect">
            <a:avLst/>
          </a:prstGeom>
        </p:spPr>
      </p:pic>
      <p:graphicFrame>
        <p:nvGraphicFramePr>
          <p:cNvPr id="7" name="Content Placeholder 6">
            <a:extLst>
              <a:ext uri="{FF2B5EF4-FFF2-40B4-BE49-F238E27FC236}">
                <a16:creationId xmlns:a16="http://schemas.microsoft.com/office/drawing/2014/main" id="{A2F19514-1254-E19F-6414-A919DFF0DAE0}"/>
              </a:ext>
            </a:extLst>
          </p:cNvPr>
          <p:cNvGraphicFramePr>
            <a:graphicFrameLocks noGrp="1"/>
          </p:cNvGraphicFramePr>
          <p:nvPr>
            <p:ph sz="half" idx="2"/>
            <p:extLst>
              <p:ext uri="{D42A27DB-BD31-4B8C-83A1-F6EECF244321}">
                <p14:modId xmlns:p14="http://schemas.microsoft.com/office/powerpoint/2010/main" val="3896090243"/>
              </p:ext>
            </p:extLst>
          </p:nvPr>
        </p:nvGraphicFramePr>
        <p:xfrm>
          <a:off x="6773356" y="1962168"/>
          <a:ext cx="4395789" cy="3505128"/>
        </p:xfrm>
        <a:graphic>
          <a:graphicData uri="http://schemas.openxmlformats.org/drawingml/2006/table">
            <a:tbl>
              <a:tblPr firstRow="1" bandRow="1">
                <a:tableStyleId>{69012ECD-51FC-41F1-AA8D-1B2483CD663E}</a:tableStyleId>
              </a:tblPr>
              <a:tblGrid>
                <a:gridCol w="1465263">
                  <a:extLst>
                    <a:ext uri="{9D8B030D-6E8A-4147-A177-3AD203B41FA5}">
                      <a16:colId xmlns:a16="http://schemas.microsoft.com/office/drawing/2014/main" val="383141520"/>
                    </a:ext>
                  </a:extLst>
                </a:gridCol>
                <a:gridCol w="1465263">
                  <a:extLst>
                    <a:ext uri="{9D8B030D-6E8A-4147-A177-3AD203B41FA5}">
                      <a16:colId xmlns:a16="http://schemas.microsoft.com/office/drawing/2014/main" val="3283133013"/>
                    </a:ext>
                  </a:extLst>
                </a:gridCol>
                <a:gridCol w="1465263">
                  <a:extLst>
                    <a:ext uri="{9D8B030D-6E8A-4147-A177-3AD203B41FA5}">
                      <a16:colId xmlns:a16="http://schemas.microsoft.com/office/drawing/2014/main" val="86770853"/>
                    </a:ext>
                  </a:extLst>
                </a:gridCol>
              </a:tblGrid>
              <a:tr h="318648">
                <a:tc>
                  <a:txBody>
                    <a:bodyPr/>
                    <a:lstStyle/>
                    <a:p>
                      <a:pPr algn="ctr" fontAlgn="ctr">
                        <a:buNone/>
                      </a:pPr>
                      <a:r>
                        <a:rPr lang="en-US" sz="1400" b="1" u="none" strike="noStrike" dirty="0">
                          <a:solidFill>
                            <a:srgbClr val="000000"/>
                          </a:solidFill>
                          <a:effectLst/>
                        </a:rPr>
                        <a:t>Year</a:t>
                      </a:r>
                      <a:endParaRPr lang="en-US" sz="1400" b="1" i="0" u="none" strike="noStrike" dirty="0">
                        <a:solidFill>
                          <a:srgbClr val="000000"/>
                        </a:solidFill>
                        <a:effectLst/>
                        <a:latin typeface="Calibri" panose="020F0502020204030204" pitchFamily="34" charset="0"/>
                      </a:endParaRPr>
                    </a:p>
                  </a:txBody>
                  <a:tcPr marL="6464" marR="6464" marT="7620" marB="0" anchor="ctr"/>
                </a:tc>
                <a:tc>
                  <a:txBody>
                    <a:bodyPr/>
                    <a:lstStyle/>
                    <a:p>
                      <a:pPr algn="ctr" fontAlgn="ctr">
                        <a:buNone/>
                      </a:pPr>
                      <a:r>
                        <a:rPr lang="en-US" sz="1400" b="1" u="none" strike="noStrike" dirty="0" err="1">
                          <a:solidFill>
                            <a:srgbClr val="000000"/>
                          </a:solidFill>
                          <a:effectLst/>
                        </a:rPr>
                        <a:t>AccountType</a:t>
                      </a:r>
                      <a:endParaRPr lang="en-US" sz="1400" b="1" i="0" u="none" strike="noStrike" dirty="0">
                        <a:solidFill>
                          <a:srgbClr val="000000"/>
                        </a:solidFill>
                        <a:effectLst/>
                        <a:latin typeface="Calibri" panose="020F0502020204030204" pitchFamily="34" charset="0"/>
                      </a:endParaRPr>
                    </a:p>
                  </a:txBody>
                  <a:tcPr marL="6464" marR="6464" marT="7620" marB="0" anchor="ctr"/>
                </a:tc>
                <a:tc>
                  <a:txBody>
                    <a:bodyPr/>
                    <a:lstStyle/>
                    <a:p>
                      <a:pPr algn="ctr" fontAlgn="ctr">
                        <a:buNone/>
                      </a:pPr>
                      <a:r>
                        <a:rPr lang="en-US" sz="1400" b="1" u="none" strike="noStrike" dirty="0" err="1">
                          <a:solidFill>
                            <a:srgbClr val="000000"/>
                          </a:solidFill>
                          <a:effectLst/>
                        </a:rPr>
                        <a:t>TotalYear</a:t>
                      </a:r>
                      <a:endParaRPr lang="en-US" sz="1400" b="1" i="0" u="none" strike="noStrike" dirty="0">
                        <a:solidFill>
                          <a:srgbClr val="000000"/>
                        </a:solidFill>
                        <a:effectLst/>
                        <a:latin typeface="Calibri" panose="020F0502020204030204" pitchFamily="34" charset="0"/>
                      </a:endParaRPr>
                    </a:p>
                  </a:txBody>
                  <a:tcPr marL="6464" marR="6464" marT="7620" marB="0" anchor="ctr"/>
                </a:tc>
                <a:extLst>
                  <a:ext uri="{0D108BD9-81ED-4DB2-BD59-A6C34878D82A}">
                    <a16:rowId xmlns:a16="http://schemas.microsoft.com/office/drawing/2014/main" val="4047586153"/>
                  </a:ext>
                </a:extLst>
              </a:tr>
              <a:tr h="318648">
                <a:tc>
                  <a:txBody>
                    <a:bodyPr/>
                    <a:lstStyle/>
                    <a:p>
                      <a:pPr algn="ctr" fontAlgn="b">
                        <a:buNone/>
                      </a:pPr>
                      <a:r>
                        <a:rPr lang="en-US" sz="1400" b="0" u="none" strike="noStrike">
                          <a:solidFill>
                            <a:srgbClr val="000000"/>
                          </a:solidFill>
                          <a:effectLst/>
                        </a:rPr>
                        <a:t>2022</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Current</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dirty="0">
                          <a:solidFill>
                            <a:srgbClr val="000000"/>
                          </a:solidFill>
                          <a:effectLst/>
                        </a:rPr>
                        <a:t>99</a:t>
                      </a:r>
                      <a:endParaRPr lang="en-US" sz="1400" b="0" i="0" u="none" strike="noStrike" dirty="0">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1922001989"/>
                  </a:ext>
                </a:extLst>
              </a:tr>
              <a:tr h="318648">
                <a:tc>
                  <a:txBody>
                    <a:bodyPr/>
                    <a:lstStyle/>
                    <a:p>
                      <a:pPr algn="ctr" fontAlgn="b">
                        <a:buNone/>
                      </a:pPr>
                      <a:r>
                        <a:rPr lang="en-US" sz="1400" b="0" u="none" strike="noStrike">
                          <a:solidFill>
                            <a:srgbClr val="000000"/>
                          </a:solidFill>
                          <a:effectLst/>
                        </a:rPr>
                        <a:t>2022</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dirty="0">
                          <a:solidFill>
                            <a:srgbClr val="000000"/>
                          </a:solidFill>
                          <a:effectLst/>
                        </a:rPr>
                        <a:t>Savings</a:t>
                      </a:r>
                      <a:endParaRPr lang="en-US" sz="1400" b="0" i="0" u="none" strike="noStrike" dirty="0">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103</a:t>
                      </a:r>
                      <a:endParaRPr lang="en-US" sz="1400" b="0" i="0" u="none" strike="noStrike">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1465334255"/>
                  </a:ext>
                </a:extLst>
              </a:tr>
              <a:tr h="318648">
                <a:tc>
                  <a:txBody>
                    <a:bodyPr/>
                    <a:lstStyle/>
                    <a:p>
                      <a:pPr algn="ctr" fontAlgn="b">
                        <a:buNone/>
                      </a:pPr>
                      <a:r>
                        <a:rPr lang="en-US" sz="1400" b="0" u="none" strike="noStrike" dirty="0">
                          <a:solidFill>
                            <a:srgbClr val="000000"/>
                          </a:solidFill>
                          <a:effectLst/>
                        </a:rPr>
                        <a:t>2021</a:t>
                      </a:r>
                      <a:endParaRPr lang="en-US" sz="1400" b="0" i="0" u="none" strike="noStrike" dirty="0">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Current</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47</a:t>
                      </a:r>
                      <a:endParaRPr lang="en-US" sz="1400" b="0" i="0" u="none" strike="noStrike">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2462323480"/>
                  </a:ext>
                </a:extLst>
              </a:tr>
              <a:tr h="318648">
                <a:tc>
                  <a:txBody>
                    <a:bodyPr/>
                    <a:lstStyle/>
                    <a:p>
                      <a:pPr algn="ctr" fontAlgn="b">
                        <a:buNone/>
                      </a:pPr>
                      <a:r>
                        <a:rPr lang="en-US" sz="1400" b="0" u="none" strike="noStrike">
                          <a:solidFill>
                            <a:srgbClr val="000000"/>
                          </a:solidFill>
                          <a:effectLst/>
                        </a:rPr>
                        <a:t>2021</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Savings</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dirty="0">
                          <a:solidFill>
                            <a:srgbClr val="000000"/>
                          </a:solidFill>
                          <a:effectLst/>
                        </a:rPr>
                        <a:t>47</a:t>
                      </a:r>
                      <a:endParaRPr lang="en-US" sz="1400" b="0" i="0" u="none" strike="noStrike" dirty="0">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4274424837"/>
                  </a:ext>
                </a:extLst>
              </a:tr>
              <a:tr h="318648">
                <a:tc>
                  <a:txBody>
                    <a:bodyPr/>
                    <a:lstStyle/>
                    <a:p>
                      <a:pPr algn="ctr" fontAlgn="b">
                        <a:buNone/>
                      </a:pPr>
                      <a:r>
                        <a:rPr lang="en-US" sz="1400" b="0" u="none" strike="noStrike">
                          <a:solidFill>
                            <a:srgbClr val="000000"/>
                          </a:solidFill>
                          <a:effectLst/>
                        </a:rPr>
                        <a:t>2020</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Current</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124</a:t>
                      </a:r>
                      <a:endParaRPr lang="en-US" sz="1400" b="0" i="0" u="none" strike="noStrike">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4033459562"/>
                  </a:ext>
                </a:extLst>
              </a:tr>
              <a:tr h="318648">
                <a:tc>
                  <a:txBody>
                    <a:bodyPr/>
                    <a:lstStyle/>
                    <a:p>
                      <a:pPr algn="ctr" fontAlgn="b">
                        <a:buNone/>
                      </a:pPr>
                      <a:r>
                        <a:rPr lang="en-US" sz="1400" b="0" u="none" strike="noStrike">
                          <a:solidFill>
                            <a:srgbClr val="000000"/>
                          </a:solidFill>
                          <a:effectLst/>
                        </a:rPr>
                        <a:t>2020</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dirty="0">
                          <a:solidFill>
                            <a:srgbClr val="000000"/>
                          </a:solidFill>
                          <a:effectLst/>
                        </a:rPr>
                        <a:t>Savings</a:t>
                      </a:r>
                      <a:endParaRPr lang="en-US" sz="1400" b="0" i="0" u="none" strike="noStrike" dirty="0">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118</a:t>
                      </a:r>
                      <a:endParaRPr lang="en-US" sz="1400" b="0" i="0" u="none" strike="noStrike">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1895815031"/>
                  </a:ext>
                </a:extLst>
              </a:tr>
              <a:tr h="318648">
                <a:tc>
                  <a:txBody>
                    <a:bodyPr/>
                    <a:lstStyle/>
                    <a:p>
                      <a:pPr algn="ctr" fontAlgn="b">
                        <a:buNone/>
                      </a:pPr>
                      <a:r>
                        <a:rPr lang="en-US" sz="1400" b="0" u="none" strike="noStrike">
                          <a:solidFill>
                            <a:srgbClr val="000000"/>
                          </a:solidFill>
                          <a:effectLst/>
                        </a:rPr>
                        <a:t>2019</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Current</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144</a:t>
                      </a:r>
                      <a:endParaRPr lang="en-US" sz="1400" b="0" i="0" u="none" strike="noStrike">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3805727724"/>
                  </a:ext>
                </a:extLst>
              </a:tr>
              <a:tr h="318648">
                <a:tc>
                  <a:txBody>
                    <a:bodyPr/>
                    <a:lstStyle/>
                    <a:p>
                      <a:pPr algn="ctr" fontAlgn="b">
                        <a:buNone/>
                      </a:pPr>
                      <a:r>
                        <a:rPr lang="en-US" sz="1400" b="0" u="none" strike="noStrike">
                          <a:solidFill>
                            <a:srgbClr val="000000"/>
                          </a:solidFill>
                          <a:effectLst/>
                        </a:rPr>
                        <a:t>2019</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Savings</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178</a:t>
                      </a:r>
                      <a:endParaRPr lang="en-US" sz="1400" b="0" i="0" u="none" strike="noStrike">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777913867"/>
                  </a:ext>
                </a:extLst>
              </a:tr>
              <a:tr h="318648">
                <a:tc>
                  <a:txBody>
                    <a:bodyPr/>
                    <a:lstStyle/>
                    <a:p>
                      <a:pPr algn="ctr" fontAlgn="b">
                        <a:buNone/>
                      </a:pPr>
                      <a:r>
                        <a:rPr lang="en-US" sz="1400" b="0" u="none" strike="noStrike">
                          <a:solidFill>
                            <a:srgbClr val="000000"/>
                          </a:solidFill>
                          <a:effectLst/>
                        </a:rPr>
                        <a:t>2018</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Current</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a:solidFill>
                            <a:srgbClr val="000000"/>
                          </a:solidFill>
                          <a:effectLst/>
                        </a:rPr>
                        <a:t>111</a:t>
                      </a:r>
                      <a:endParaRPr lang="en-US" sz="1400" b="0" i="0" u="none" strike="noStrike">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2797185020"/>
                  </a:ext>
                </a:extLst>
              </a:tr>
              <a:tr h="318648">
                <a:tc>
                  <a:txBody>
                    <a:bodyPr/>
                    <a:lstStyle/>
                    <a:p>
                      <a:pPr algn="ctr" fontAlgn="b">
                        <a:buNone/>
                      </a:pPr>
                      <a:r>
                        <a:rPr lang="en-US" sz="1400" b="0" u="none" strike="noStrike">
                          <a:solidFill>
                            <a:srgbClr val="000000"/>
                          </a:solidFill>
                          <a:effectLst/>
                        </a:rPr>
                        <a:t>2018</a:t>
                      </a:r>
                      <a:endParaRPr lang="en-US" sz="1400" b="0" i="0" u="none" strike="noStrike">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dirty="0">
                          <a:solidFill>
                            <a:srgbClr val="000000"/>
                          </a:solidFill>
                          <a:effectLst/>
                        </a:rPr>
                        <a:t>Savings</a:t>
                      </a:r>
                      <a:endParaRPr lang="en-US" sz="1400" b="0" i="0" u="none" strike="noStrike" dirty="0">
                        <a:solidFill>
                          <a:srgbClr val="000000"/>
                        </a:solidFill>
                        <a:effectLst/>
                        <a:latin typeface="Calibri" panose="020F0502020204030204" pitchFamily="34" charset="0"/>
                      </a:endParaRPr>
                    </a:p>
                  </a:txBody>
                  <a:tcPr marL="6464" marR="6464" marT="7620" marB="0" anchor="b"/>
                </a:tc>
                <a:tc>
                  <a:txBody>
                    <a:bodyPr/>
                    <a:lstStyle/>
                    <a:p>
                      <a:pPr algn="ctr" fontAlgn="b">
                        <a:buNone/>
                      </a:pPr>
                      <a:r>
                        <a:rPr lang="en-US" sz="1400" b="0" u="none" strike="noStrike" dirty="0">
                          <a:solidFill>
                            <a:srgbClr val="000000"/>
                          </a:solidFill>
                          <a:effectLst/>
                        </a:rPr>
                        <a:t>95</a:t>
                      </a:r>
                      <a:endParaRPr lang="en-US" sz="1400" b="0" i="0" u="none" strike="noStrike" dirty="0">
                        <a:solidFill>
                          <a:srgbClr val="000000"/>
                        </a:solidFill>
                        <a:effectLst/>
                        <a:latin typeface="Calibri" panose="020F0502020204030204" pitchFamily="34" charset="0"/>
                      </a:endParaRPr>
                    </a:p>
                  </a:txBody>
                  <a:tcPr marL="6464" marR="6464" marT="7620" marB="0" anchor="b"/>
                </a:tc>
                <a:extLst>
                  <a:ext uri="{0D108BD9-81ED-4DB2-BD59-A6C34878D82A}">
                    <a16:rowId xmlns:a16="http://schemas.microsoft.com/office/drawing/2014/main" val="457619106"/>
                  </a:ext>
                </a:extLst>
              </a:tr>
            </a:tbl>
          </a:graphicData>
        </a:graphic>
      </p:graphicFrame>
    </p:spTree>
    <p:extLst>
      <p:ext uri="{BB962C8B-B14F-4D97-AF65-F5344CB8AC3E}">
        <p14:creationId xmlns:p14="http://schemas.microsoft.com/office/powerpoint/2010/main" val="1458133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7E2B6-8A6E-5B2D-E967-EBBB26027E71}"/>
              </a:ext>
            </a:extLst>
          </p:cNvPr>
          <p:cNvSpPr>
            <a:spLocks noGrp="1"/>
          </p:cNvSpPr>
          <p:nvPr>
            <p:ph type="title"/>
          </p:nvPr>
        </p:nvSpPr>
        <p:spPr>
          <a:xfrm>
            <a:off x="838200" y="365126"/>
            <a:ext cx="10515600" cy="850832"/>
          </a:xfrm>
        </p:spPr>
        <p:txBody>
          <a:bodyPr>
            <a:normAutofit/>
          </a:bodyPr>
          <a:lstStyle/>
          <a:p>
            <a:pPr algn="r"/>
            <a:r>
              <a:rPr lang="he-IL" sz="2400" b="1" dirty="0"/>
              <a:t>5 סניפים שפתחו כמות חשבונות גדולה ביותר בתקופה 2018-2022</a:t>
            </a:r>
            <a:endParaRPr lang="en-US" sz="2400" b="1" dirty="0"/>
          </a:p>
        </p:txBody>
      </p:sp>
      <p:pic>
        <p:nvPicPr>
          <p:cNvPr id="6" name="Content Placeholder 5">
            <a:extLst>
              <a:ext uri="{FF2B5EF4-FFF2-40B4-BE49-F238E27FC236}">
                <a16:creationId xmlns:a16="http://schemas.microsoft.com/office/drawing/2014/main" id="{CDD1B524-A934-E63E-4634-8F8AA4AE0EA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33918" y="1626375"/>
            <a:ext cx="6068431" cy="3762747"/>
          </a:xfrm>
          <a:prstGeom prst="rect">
            <a:avLst/>
          </a:prstGeom>
        </p:spPr>
      </p:pic>
      <p:graphicFrame>
        <p:nvGraphicFramePr>
          <p:cNvPr id="7" name="Content Placeholder 6">
            <a:extLst>
              <a:ext uri="{FF2B5EF4-FFF2-40B4-BE49-F238E27FC236}">
                <a16:creationId xmlns:a16="http://schemas.microsoft.com/office/drawing/2014/main" id="{B9E3ECD2-EA11-8141-4053-FD644642F6CF}"/>
              </a:ext>
            </a:extLst>
          </p:cNvPr>
          <p:cNvGraphicFramePr>
            <a:graphicFrameLocks noGrp="1"/>
          </p:cNvGraphicFramePr>
          <p:nvPr>
            <p:ph sz="half" idx="2"/>
            <p:extLst>
              <p:ext uri="{D42A27DB-BD31-4B8C-83A1-F6EECF244321}">
                <p14:modId xmlns:p14="http://schemas.microsoft.com/office/powerpoint/2010/main" val="161750409"/>
              </p:ext>
            </p:extLst>
          </p:nvPr>
        </p:nvGraphicFramePr>
        <p:xfrm>
          <a:off x="6848272" y="1867711"/>
          <a:ext cx="4834645" cy="2616741"/>
        </p:xfrm>
        <a:graphic>
          <a:graphicData uri="http://schemas.openxmlformats.org/drawingml/2006/table">
            <a:tbl>
              <a:tblPr firstRow="1" bandRow="1">
                <a:tableStyleId>{69012ECD-51FC-41F1-AA8D-1B2483CD663E}</a:tableStyleId>
              </a:tblPr>
              <a:tblGrid>
                <a:gridCol w="1225685">
                  <a:extLst>
                    <a:ext uri="{9D8B030D-6E8A-4147-A177-3AD203B41FA5}">
                      <a16:colId xmlns:a16="http://schemas.microsoft.com/office/drawing/2014/main" val="987691849"/>
                    </a:ext>
                  </a:extLst>
                </a:gridCol>
                <a:gridCol w="2335696">
                  <a:extLst>
                    <a:ext uri="{9D8B030D-6E8A-4147-A177-3AD203B41FA5}">
                      <a16:colId xmlns:a16="http://schemas.microsoft.com/office/drawing/2014/main" val="3932616050"/>
                    </a:ext>
                  </a:extLst>
                </a:gridCol>
                <a:gridCol w="1273264">
                  <a:extLst>
                    <a:ext uri="{9D8B030D-6E8A-4147-A177-3AD203B41FA5}">
                      <a16:colId xmlns:a16="http://schemas.microsoft.com/office/drawing/2014/main" val="417065252"/>
                    </a:ext>
                  </a:extLst>
                </a:gridCol>
              </a:tblGrid>
              <a:tr h="458326">
                <a:tc>
                  <a:txBody>
                    <a:bodyPr/>
                    <a:lstStyle/>
                    <a:p>
                      <a:pPr algn="ctr" fontAlgn="ctr">
                        <a:buNone/>
                      </a:pPr>
                      <a:r>
                        <a:rPr lang="en-US" sz="1400" b="1" u="none" strike="noStrike" dirty="0">
                          <a:solidFill>
                            <a:srgbClr val="000000"/>
                          </a:solidFill>
                          <a:effectLst/>
                        </a:rPr>
                        <a:t>BranchID</a:t>
                      </a:r>
                      <a:endParaRPr lang="en-US" sz="14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dirty="0">
                          <a:solidFill>
                            <a:srgbClr val="000000"/>
                          </a:solidFill>
                          <a:effectLst/>
                        </a:rPr>
                        <a:t>TotalQuantityOpenAccounts</a:t>
                      </a:r>
                      <a:endParaRPr lang="en-US" sz="14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dirty="0">
                          <a:solidFill>
                            <a:srgbClr val="000000"/>
                          </a:solidFill>
                          <a:effectLst/>
                        </a:rPr>
                        <a:t>rnk</a:t>
                      </a:r>
                      <a:endParaRPr lang="en-US" sz="14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885585775"/>
                  </a:ext>
                </a:extLst>
              </a:tr>
              <a:tr h="431683">
                <a:tc>
                  <a:txBody>
                    <a:bodyPr/>
                    <a:lstStyle/>
                    <a:p>
                      <a:pPr algn="ctr" fontAlgn="ctr">
                        <a:buNone/>
                      </a:pPr>
                      <a:r>
                        <a:rPr lang="en-US" sz="1400" b="0" u="none" strike="noStrike" dirty="0">
                          <a:solidFill>
                            <a:srgbClr val="000000"/>
                          </a:solidFill>
                          <a:effectLst/>
                        </a:rPr>
                        <a:t>92</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18</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43197749"/>
                  </a:ext>
                </a:extLst>
              </a:tr>
              <a:tr h="431683">
                <a:tc>
                  <a:txBody>
                    <a:bodyPr/>
                    <a:lstStyle/>
                    <a:p>
                      <a:pPr algn="ctr" fontAlgn="ctr">
                        <a:buNone/>
                      </a:pPr>
                      <a:r>
                        <a:rPr lang="en-US" sz="1400" b="0" u="none" strike="noStrike">
                          <a:solidFill>
                            <a:srgbClr val="000000"/>
                          </a:solidFill>
                          <a:effectLst/>
                        </a:rPr>
                        <a:t>12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18</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03875902"/>
                  </a:ext>
                </a:extLst>
              </a:tr>
              <a:tr h="431683">
                <a:tc>
                  <a:txBody>
                    <a:bodyPr/>
                    <a:lstStyle/>
                    <a:p>
                      <a:pPr algn="ctr" fontAlgn="ctr">
                        <a:buNone/>
                      </a:pPr>
                      <a:r>
                        <a:rPr lang="en-US" sz="1400" b="0" u="none" strike="noStrike">
                          <a:solidFill>
                            <a:srgbClr val="000000"/>
                          </a:solidFill>
                          <a:effectLst/>
                        </a:rPr>
                        <a:t>9</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17</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3</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647152770"/>
                  </a:ext>
                </a:extLst>
              </a:tr>
              <a:tr h="431683">
                <a:tc>
                  <a:txBody>
                    <a:bodyPr/>
                    <a:lstStyle/>
                    <a:p>
                      <a:pPr algn="ctr" fontAlgn="ctr">
                        <a:buNone/>
                      </a:pPr>
                      <a:r>
                        <a:rPr lang="en-US" sz="1400" b="0" u="none" strike="noStrike">
                          <a:solidFill>
                            <a:srgbClr val="000000"/>
                          </a:solidFill>
                          <a:effectLst/>
                        </a:rPr>
                        <a:t>99</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17</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3</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983460192"/>
                  </a:ext>
                </a:extLst>
              </a:tr>
              <a:tr h="431683">
                <a:tc>
                  <a:txBody>
                    <a:bodyPr/>
                    <a:lstStyle/>
                    <a:p>
                      <a:pPr algn="ctr" fontAlgn="ctr">
                        <a:buNone/>
                      </a:pPr>
                      <a:r>
                        <a:rPr lang="en-US" sz="1400" b="0" u="none" strike="noStrike">
                          <a:solidFill>
                            <a:srgbClr val="000000"/>
                          </a:solidFill>
                          <a:effectLst/>
                        </a:rPr>
                        <a:t>39</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17</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3</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846795078"/>
                  </a:ext>
                </a:extLst>
              </a:tr>
            </a:tbl>
          </a:graphicData>
        </a:graphic>
      </p:graphicFrame>
    </p:spTree>
    <p:extLst>
      <p:ext uri="{BB962C8B-B14F-4D97-AF65-F5344CB8AC3E}">
        <p14:creationId xmlns:p14="http://schemas.microsoft.com/office/powerpoint/2010/main" val="3955408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18E6-25C3-B0DF-6778-83005AEDD2B7}"/>
              </a:ext>
            </a:extLst>
          </p:cNvPr>
          <p:cNvSpPr>
            <a:spLocks noGrp="1"/>
          </p:cNvSpPr>
          <p:nvPr>
            <p:ph type="title"/>
          </p:nvPr>
        </p:nvSpPr>
        <p:spPr/>
        <p:txBody>
          <a:bodyPr>
            <a:normAutofit/>
          </a:bodyPr>
          <a:lstStyle/>
          <a:p>
            <a:pPr algn="r"/>
            <a:r>
              <a:rPr lang="he-IL" sz="2400" b="1" dirty="0"/>
              <a:t>סכומים כספים שהופקדו בפיקדונות בכל רביעון ובכל שנה של התקופה 2018-2022</a:t>
            </a:r>
            <a:endParaRPr lang="en-US" sz="2400" b="1" dirty="0"/>
          </a:p>
        </p:txBody>
      </p:sp>
      <p:pic>
        <p:nvPicPr>
          <p:cNvPr id="6" name="Content Placeholder 5">
            <a:extLst>
              <a:ext uri="{FF2B5EF4-FFF2-40B4-BE49-F238E27FC236}">
                <a16:creationId xmlns:a16="http://schemas.microsoft.com/office/drawing/2014/main" id="{AE7D2F0D-85D7-66C7-0687-48F71B6F5C5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7233" y="1641383"/>
            <a:ext cx="5175516" cy="3575234"/>
          </a:xfrm>
          <a:prstGeom prst="rect">
            <a:avLst/>
          </a:prstGeom>
        </p:spPr>
      </p:pic>
      <p:graphicFrame>
        <p:nvGraphicFramePr>
          <p:cNvPr id="7" name="Content Placeholder 6">
            <a:extLst>
              <a:ext uri="{FF2B5EF4-FFF2-40B4-BE49-F238E27FC236}">
                <a16:creationId xmlns:a16="http://schemas.microsoft.com/office/drawing/2014/main" id="{38AFB9BD-5B55-9853-AE78-040EDE3E46E4}"/>
              </a:ext>
            </a:extLst>
          </p:cNvPr>
          <p:cNvGraphicFramePr>
            <a:graphicFrameLocks noGrp="1"/>
          </p:cNvGraphicFramePr>
          <p:nvPr>
            <p:ph sz="half" idx="2"/>
            <p:extLst>
              <p:ext uri="{D42A27DB-BD31-4B8C-83A1-F6EECF244321}">
                <p14:modId xmlns:p14="http://schemas.microsoft.com/office/powerpoint/2010/main" val="510950118"/>
              </p:ext>
            </p:extLst>
          </p:nvPr>
        </p:nvGraphicFramePr>
        <p:xfrm>
          <a:off x="6021421" y="2169268"/>
          <a:ext cx="5543345" cy="2577828"/>
        </p:xfrm>
        <a:graphic>
          <a:graphicData uri="http://schemas.openxmlformats.org/drawingml/2006/table">
            <a:tbl>
              <a:tblPr firstRow="1" bandRow="1">
                <a:tableStyleId>{69012ECD-51FC-41F1-AA8D-1B2483CD663E}</a:tableStyleId>
              </a:tblPr>
              <a:tblGrid>
                <a:gridCol w="1108669">
                  <a:extLst>
                    <a:ext uri="{9D8B030D-6E8A-4147-A177-3AD203B41FA5}">
                      <a16:colId xmlns:a16="http://schemas.microsoft.com/office/drawing/2014/main" val="769189153"/>
                    </a:ext>
                  </a:extLst>
                </a:gridCol>
                <a:gridCol w="1108669">
                  <a:extLst>
                    <a:ext uri="{9D8B030D-6E8A-4147-A177-3AD203B41FA5}">
                      <a16:colId xmlns:a16="http://schemas.microsoft.com/office/drawing/2014/main" val="4168209771"/>
                    </a:ext>
                  </a:extLst>
                </a:gridCol>
                <a:gridCol w="1108669">
                  <a:extLst>
                    <a:ext uri="{9D8B030D-6E8A-4147-A177-3AD203B41FA5}">
                      <a16:colId xmlns:a16="http://schemas.microsoft.com/office/drawing/2014/main" val="1863409579"/>
                    </a:ext>
                  </a:extLst>
                </a:gridCol>
                <a:gridCol w="1108669">
                  <a:extLst>
                    <a:ext uri="{9D8B030D-6E8A-4147-A177-3AD203B41FA5}">
                      <a16:colId xmlns:a16="http://schemas.microsoft.com/office/drawing/2014/main" val="2614093589"/>
                    </a:ext>
                  </a:extLst>
                </a:gridCol>
                <a:gridCol w="1108669">
                  <a:extLst>
                    <a:ext uri="{9D8B030D-6E8A-4147-A177-3AD203B41FA5}">
                      <a16:colId xmlns:a16="http://schemas.microsoft.com/office/drawing/2014/main" val="4158222032"/>
                    </a:ext>
                  </a:extLst>
                </a:gridCol>
              </a:tblGrid>
              <a:tr h="429638">
                <a:tc>
                  <a:txBody>
                    <a:bodyPr/>
                    <a:lstStyle/>
                    <a:p>
                      <a:pPr algn="ctr" fontAlgn="ctr">
                        <a:buNone/>
                      </a:pPr>
                      <a:r>
                        <a:rPr lang="en-US" sz="1400" b="1" u="none" strike="noStrike" dirty="0">
                          <a:solidFill>
                            <a:srgbClr val="000000"/>
                          </a:solidFill>
                          <a:effectLst/>
                        </a:rPr>
                        <a:t>Year</a:t>
                      </a:r>
                      <a:endParaRPr lang="en-US" sz="14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dirty="0">
                          <a:solidFill>
                            <a:srgbClr val="000000"/>
                          </a:solidFill>
                          <a:effectLst/>
                        </a:rPr>
                        <a:t>Q1</a:t>
                      </a:r>
                      <a:endParaRPr lang="en-US" sz="14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a:solidFill>
                            <a:srgbClr val="000000"/>
                          </a:solidFill>
                          <a:effectLst/>
                        </a:rPr>
                        <a:t>Q2</a:t>
                      </a:r>
                      <a:endParaRPr lang="en-US" sz="14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a:solidFill>
                            <a:srgbClr val="000000"/>
                          </a:solidFill>
                          <a:effectLst/>
                        </a:rPr>
                        <a:t>Q3</a:t>
                      </a:r>
                      <a:endParaRPr lang="en-US" sz="14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a:solidFill>
                            <a:srgbClr val="000000"/>
                          </a:solidFill>
                          <a:effectLst/>
                        </a:rPr>
                        <a:t>Q4</a:t>
                      </a:r>
                      <a:endParaRPr lang="en-US" sz="14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907809536"/>
                  </a:ext>
                </a:extLst>
              </a:tr>
              <a:tr h="429638">
                <a:tc>
                  <a:txBody>
                    <a:bodyPr/>
                    <a:lstStyle/>
                    <a:p>
                      <a:pPr algn="ctr" fontAlgn="ctr">
                        <a:buNone/>
                      </a:pPr>
                      <a:r>
                        <a:rPr lang="en-US" sz="1400" b="0" u="none" strike="noStrike">
                          <a:solidFill>
                            <a:srgbClr val="000000"/>
                          </a:solidFill>
                          <a:effectLst/>
                        </a:rPr>
                        <a:t>2020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61836.71</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68732.52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67072.35</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82419.58</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62957295"/>
                  </a:ext>
                </a:extLst>
              </a:tr>
              <a:tr h="429638">
                <a:tc>
                  <a:txBody>
                    <a:bodyPr/>
                    <a:lstStyle/>
                    <a:p>
                      <a:pPr algn="ctr" fontAlgn="ctr">
                        <a:buNone/>
                      </a:pPr>
                      <a:r>
                        <a:rPr lang="en-US" sz="1400" b="0" u="none" strike="noStrike">
                          <a:solidFill>
                            <a:srgbClr val="000000"/>
                          </a:solidFill>
                          <a:effectLst/>
                        </a:rPr>
                        <a:t>2019</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71729.12</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65830.1</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59418.63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77706.45</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899157853"/>
                  </a:ext>
                </a:extLst>
              </a:tr>
              <a:tr h="429638">
                <a:tc>
                  <a:txBody>
                    <a:bodyPr/>
                    <a:lstStyle/>
                    <a:p>
                      <a:pPr algn="ctr" fontAlgn="ctr">
                        <a:buNone/>
                      </a:pPr>
                      <a:r>
                        <a:rPr lang="en-US" sz="1400" b="0" u="none" strike="noStrike">
                          <a:solidFill>
                            <a:srgbClr val="000000"/>
                          </a:solidFill>
                          <a:effectLst/>
                        </a:rPr>
                        <a:t>2021</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78170.93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53571.31</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72611.11</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62400.62</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91655114"/>
                  </a:ext>
                </a:extLst>
              </a:tr>
              <a:tr h="429638">
                <a:tc>
                  <a:txBody>
                    <a:bodyPr/>
                    <a:lstStyle/>
                    <a:p>
                      <a:pPr algn="ctr" fontAlgn="ctr">
                        <a:buNone/>
                      </a:pPr>
                      <a:r>
                        <a:rPr lang="en-US" sz="1400" b="0" u="none" strike="noStrike">
                          <a:solidFill>
                            <a:srgbClr val="000000"/>
                          </a:solidFill>
                          <a:effectLst/>
                        </a:rPr>
                        <a:t>2022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73405.88</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41187.43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50965.31</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97899.78</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025310669"/>
                  </a:ext>
                </a:extLst>
              </a:tr>
              <a:tr h="429638">
                <a:tc>
                  <a:txBody>
                    <a:bodyPr/>
                    <a:lstStyle/>
                    <a:p>
                      <a:pPr algn="ctr" fontAlgn="ctr">
                        <a:buNone/>
                      </a:pPr>
                      <a:r>
                        <a:rPr lang="en-US" sz="1400" b="0" u="none" strike="noStrike" dirty="0">
                          <a:solidFill>
                            <a:srgbClr val="000000"/>
                          </a:solidFill>
                          <a:effectLst/>
                        </a:rPr>
                        <a:t>2018</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50993.31</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47219.95</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66767.69</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53960.03</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919266227"/>
                  </a:ext>
                </a:extLst>
              </a:tr>
            </a:tbl>
          </a:graphicData>
        </a:graphic>
      </p:graphicFrame>
    </p:spTree>
    <p:extLst>
      <p:ext uri="{BB962C8B-B14F-4D97-AF65-F5344CB8AC3E}">
        <p14:creationId xmlns:p14="http://schemas.microsoft.com/office/powerpoint/2010/main" val="725841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83398-1AFB-3664-1B96-206FD991F1FE}"/>
              </a:ext>
            </a:extLst>
          </p:cNvPr>
          <p:cNvSpPr>
            <a:spLocks noGrp="1"/>
          </p:cNvSpPr>
          <p:nvPr>
            <p:ph type="title"/>
          </p:nvPr>
        </p:nvSpPr>
        <p:spPr/>
        <p:txBody>
          <a:bodyPr>
            <a:normAutofit/>
          </a:bodyPr>
          <a:lstStyle/>
          <a:p>
            <a:pPr algn="r"/>
            <a:r>
              <a:rPr lang="he-IL" sz="2400" b="1" dirty="0"/>
              <a:t>כמות חשבונות שנסגרו בכל חודש בשנת 2023</a:t>
            </a:r>
            <a:endParaRPr lang="en-US" sz="2400" b="1" dirty="0"/>
          </a:p>
        </p:txBody>
      </p:sp>
      <p:graphicFrame>
        <p:nvGraphicFramePr>
          <p:cNvPr id="7" name="Content Placeholder 6">
            <a:extLst>
              <a:ext uri="{FF2B5EF4-FFF2-40B4-BE49-F238E27FC236}">
                <a16:creationId xmlns:a16="http://schemas.microsoft.com/office/drawing/2014/main" id="{02921FD2-9222-EF35-F243-E74D799BA5A4}"/>
              </a:ext>
            </a:extLst>
          </p:cNvPr>
          <p:cNvGraphicFramePr>
            <a:graphicFrameLocks noGrp="1"/>
          </p:cNvGraphicFramePr>
          <p:nvPr>
            <p:ph sz="half" idx="2"/>
            <p:extLst>
              <p:ext uri="{D42A27DB-BD31-4B8C-83A1-F6EECF244321}">
                <p14:modId xmlns:p14="http://schemas.microsoft.com/office/powerpoint/2010/main" val="1733467570"/>
              </p:ext>
            </p:extLst>
          </p:nvPr>
        </p:nvGraphicFramePr>
        <p:xfrm>
          <a:off x="6240294" y="1356043"/>
          <a:ext cx="5181600" cy="4820920"/>
        </p:xfrm>
        <a:graphic>
          <a:graphicData uri="http://schemas.openxmlformats.org/drawingml/2006/table">
            <a:tbl>
              <a:tblPr firstRow="1" bandRow="1">
                <a:tableStyleId>{69012ECD-51FC-41F1-AA8D-1B2483CD663E}</a:tableStyleId>
              </a:tblPr>
              <a:tblGrid>
                <a:gridCol w="1727200">
                  <a:extLst>
                    <a:ext uri="{9D8B030D-6E8A-4147-A177-3AD203B41FA5}">
                      <a16:colId xmlns:a16="http://schemas.microsoft.com/office/drawing/2014/main" val="3407154482"/>
                    </a:ext>
                  </a:extLst>
                </a:gridCol>
                <a:gridCol w="1448880">
                  <a:extLst>
                    <a:ext uri="{9D8B030D-6E8A-4147-A177-3AD203B41FA5}">
                      <a16:colId xmlns:a16="http://schemas.microsoft.com/office/drawing/2014/main" val="1295527264"/>
                    </a:ext>
                  </a:extLst>
                </a:gridCol>
                <a:gridCol w="2005520">
                  <a:extLst>
                    <a:ext uri="{9D8B030D-6E8A-4147-A177-3AD203B41FA5}">
                      <a16:colId xmlns:a16="http://schemas.microsoft.com/office/drawing/2014/main" val="934089165"/>
                    </a:ext>
                  </a:extLst>
                </a:gridCol>
              </a:tblGrid>
              <a:tr h="370840">
                <a:tc>
                  <a:txBody>
                    <a:bodyPr/>
                    <a:lstStyle/>
                    <a:p>
                      <a:pPr algn="ctr" fontAlgn="ctr">
                        <a:buNone/>
                      </a:pPr>
                      <a:r>
                        <a:rPr lang="en-US" sz="1400" b="1" u="none" strike="noStrike" dirty="0">
                          <a:solidFill>
                            <a:srgbClr val="000000"/>
                          </a:solidFill>
                          <a:effectLst/>
                        </a:rPr>
                        <a:t>Year</a:t>
                      </a:r>
                      <a:endParaRPr lang="en-US" sz="14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dirty="0">
                          <a:solidFill>
                            <a:srgbClr val="000000"/>
                          </a:solidFill>
                          <a:effectLst/>
                        </a:rPr>
                        <a:t>Month</a:t>
                      </a:r>
                      <a:endParaRPr lang="en-US" sz="14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a:solidFill>
                            <a:srgbClr val="000000"/>
                          </a:solidFill>
                          <a:effectLst/>
                        </a:rPr>
                        <a:t>QuantityCloseAmount</a:t>
                      </a:r>
                      <a:endParaRPr lang="en-US" sz="14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134155544"/>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7</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500300315"/>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4</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34196002"/>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3</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6</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18958024"/>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12</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9396712"/>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5</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4</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43197099"/>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6</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5</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97767134"/>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7</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2</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288762566"/>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8</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32443421"/>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9</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3</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71474369"/>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31</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024987881"/>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11</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45</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66133436"/>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20</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891587507"/>
                  </a:ext>
                </a:extLst>
              </a:tr>
            </a:tbl>
          </a:graphicData>
        </a:graphic>
      </p:graphicFrame>
      <p:pic>
        <p:nvPicPr>
          <p:cNvPr id="11" name="Content Placeholder 10">
            <a:extLst>
              <a:ext uri="{FF2B5EF4-FFF2-40B4-BE49-F238E27FC236}">
                <a16:creationId xmlns:a16="http://schemas.microsoft.com/office/drawing/2014/main" id="{3E6952D5-F536-DC8F-8D2A-5A75D909C73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86709" y="2160588"/>
            <a:ext cx="3765369" cy="3881437"/>
          </a:xfrm>
          <a:prstGeom prst="rect">
            <a:avLst/>
          </a:prstGeom>
        </p:spPr>
      </p:pic>
    </p:spTree>
    <p:extLst>
      <p:ext uri="{BB962C8B-B14F-4D97-AF65-F5344CB8AC3E}">
        <p14:creationId xmlns:p14="http://schemas.microsoft.com/office/powerpoint/2010/main" val="3683176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FD37C-8F27-A571-153E-F993E7E13A02}"/>
              </a:ext>
            </a:extLst>
          </p:cNvPr>
          <p:cNvSpPr>
            <a:spLocks noGrp="1"/>
          </p:cNvSpPr>
          <p:nvPr>
            <p:ph type="title"/>
          </p:nvPr>
        </p:nvSpPr>
        <p:spPr>
          <a:xfrm>
            <a:off x="838200" y="365125"/>
            <a:ext cx="10515600" cy="656279"/>
          </a:xfrm>
        </p:spPr>
        <p:txBody>
          <a:bodyPr>
            <a:normAutofit fontScale="90000"/>
          </a:bodyPr>
          <a:lstStyle/>
          <a:p>
            <a:pPr algn="r"/>
            <a:r>
              <a:rPr lang="he-IL" sz="2400" b="1" dirty="0"/>
              <a:t>קורלציה בין כמות תלונות של לקוחות וכמות חשבונות שנסגרו בכל חודש של שנת 2023</a:t>
            </a:r>
            <a:endParaRPr lang="en-US" sz="2400" b="1" dirty="0"/>
          </a:p>
        </p:txBody>
      </p:sp>
      <p:pic>
        <p:nvPicPr>
          <p:cNvPr id="7" name="Content Placeholder 6">
            <a:extLst>
              <a:ext uri="{FF2B5EF4-FFF2-40B4-BE49-F238E27FC236}">
                <a16:creationId xmlns:a16="http://schemas.microsoft.com/office/drawing/2014/main" id="{370C86A6-B44A-5545-4BA4-3BD56168114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52855" y="1266352"/>
            <a:ext cx="5543145" cy="3422380"/>
          </a:xfrm>
          <a:prstGeom prst="rect">
            <a:avLst/>
          </a:prstGeom>
        </p:spPr>
      </p:pic>
      <p:graphicFrame>
        <p:nvGraphicFramePr>
          <p:cNvPr id="8" name="Content Placeholder 7">
            <a:extLst>
              <a:ext uri="{FF2B5EF4-FFF2-40B4-BE49-F238E27FC236}">
                <a16:creationId xmlns:a16="http://schemas.microsoft.com/office/drawing/2014/main" id="{6E21BE32-32C9-3393-44CF-A5CC4CC5291C}"/>
              </a:ext>
            </a:extLst>
          </p:cNvPr>
          <p:cNvGraphicFramePr>
            <a:graphicFrameLocks noGrp="1"/>
          </p:cNvGraphicFramePr>
          <p:nvPr>
            <p:ph sz="half" idx="2"/>
            <p:extLst>
              <p:ext uri="{D42A27DB-BD31-4B8C-83A1-F6EECF244321}">
                <p14:modId xmlns:p14="http://schemas.microsoft.com/office/powerpoint/2010/main" val="1143236776"/>
              </p:ext>
            </p:extLst>
          </p:nvPr>
        </p:nvGraphicFramePr>
        <p:xfrm>
          <a:off x="6172200" y="1018540"/>
          <a:ext cx="5181600" cy="4820920"/>
        </p:xfrm>
        <a:graphic>
          <a:graphicData uri="http://schemas.openxmlformats.org/drawingml/2006/table">
            <a:tbl>
              <a:tblPr firstRow="1" bandRow="1">
                <a:tableStyleId>{69012ECD-51FC-41F1-AA8D-1B2483CD663E}</a:tableStyleId>
              </a:tblPr>
              <a:tblGrid>
                <a:gridCol w="1295400">
                  <a:extLst>
                    <a:ext uri="{9D8B030D-6E8A-4147-A177-3AD203B41FA5}">
                      <a16:colId xmlns:a16="http://schemas.microsoft.com/office/drawing/2014/main" val="2311808691"/>
                    </a:ext>
                  </a:extLst>
                </a:gridCol>
                <a:gridCol w="1151106">
                  <a:extLst>
                    <a:ext uri="{9D8B030D-6E8A-4147-A177-3AD203B41FA5}">
                      <a16:colId xmlns:a16="http://schemas.microsoft.com/office/drawing/2014/main" val="437671280"/>
                    </a:ext>
                  </a:extLst>
                </a:gridCol>
                <a:gridCol w="1439694">
                  <a:extLst>
                    <a:ext uri="{9D8B030D-6E8A-4147-A177-3AD203B41FA5}">
                      <a16:colId xmlns:a16="http://schemas.microsoft.com/office/drawing/2014/main" val="2132599697"/>
                    </a:ext>
                  </a:extLst>
                </a:gridCol>
                <a:gridCol w="1295400">
                  <a:extLst>
                    <a:ext uri="{9D8B030D-6E8A-4147-A177-3AD203B41FA5}">
                      <a16:colId xmlns:a16="http://schemas.microsoft.com/office/drawing/2014/main" val="3548992253"/>
                    </a:ext>
                  </a:extLst>
                </a:gridCol>
              </a:tblGrid>
              <a:tr h="370840">
                <a:tc>
                  <a:txBody>
                    <a:bodyPr/>
                    <a:lstStyle/>
                    <a:p>
                      <a:pPr algn="ctr" fontAlgn="ctr">
                        <a:buNone/>
                      </a:pPr>
                      <a:r>
                        <a:rPr lang="en-US" sz="1400" b="1" u="none" strike="noStrike" dirty="0">
                          <a:solidFill>
                            <a:srgbClr val="000000"/>
                          </a:solidFill>
                          <a:effectLst/>
                        </a:rPr>
                        <a:t>Year</a:t>
                      </a:r>
                      <a:endParaRPr lang="en-US" sz="14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a:solidFill>
                            <a:srgbClr val="000000"/>
                          </a:solidFill>
                          <a:effectLst/>
                        </a:rPr>
                        <a:t>Month</a:t>
                      </a:r>
                      <a:endParaRPr lang="en-US" sz="14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a:solidFill>
                            <a:srgbClr val="000000"/>
                          </a:solidFill>
                          <a:effectLst/>
                        </a:rPr>
                        <a:t>ClosedAccounts</a:t>
                      </a:r>
                      <a:endParaRPr lang="en-US" sz="14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1" u="none" strike="noStrike">
                          <a:solidFill>
                            <a:srgbClr val="000000"/>
                          </a:solidFill>
                          <a:effectLst/>
                        </a:rPr>
                        <a:t>Complaints</a:t>
                      </a:r>
                      <a:endParaRPr lang="en-US" sz="14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55301629"/>
                  </a:ext>
                </a:extLst>
              </a:tr>
              <a:tr h="370840">
                <a:tc>
                  <a:txBody>
                    <a:bodyPr/>
                    <a:lstStyle/>
                    <a:p>
                      <a:pPr algn="ctr" fontAlgn="ctr">
                        <a:buNone/>
                      </a:pPr>
                      <a:r>
                        <a:rPr lang="en-US" sz="1400" b="0" u="none" strike="noStrike" dirty="0">
                          <a:solidFill>
                            <a:srgbClr val="000000"/>
                          </a:solidFill>
                          <a:effectLst/>
                        </a:rPr>
                        <a:t>2023</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7</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144</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32275082"/>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2</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154</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190424479"/>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6</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170</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02258459"/>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164</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71947656"/>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5</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164</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21241890"/>
                  </a:ext>
                </a:extLst>
              </a:tr>
              <a:tr h="370840">
                <a:tc>
                  <a:txBody>
                    <a:bodyPr/>
                    <a:lstStyle/>
                    <a:p>
                      <a:pPr algn="ctr" fontAlgn="ctr">
                        <a:buNone/>
                      </a:pPr>
                      <a:r>
                        <a:rPr lang="en-US" sz="1400" b="0" u="none" strike="noStrike" dirty="0">
                          <a:solidFill>
                            <a:srgbClr val="000000"/>
                          </a:solidFill>
                          <a:effectLst/>
                        </a:rPr>
                        <a:t>2023</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6</a:t>
                      </a:r>
                      <a:endParaRPr lang="en-US"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5</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139</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587159457"/>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7</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153</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74878612"/>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8</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152</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11466362"/>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9</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157</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811297525"/>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31</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168</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75454919"/>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11</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45</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164</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634167609"/>
                  </a:ext>
                </a:extLst>
              </a:tr>
              <a:tr h="370840">
                <a:tc>
                  <a:txBody>
                    <a:bodyPr/>
                    <a:lstStyle/>
                    <a:p>
                      <a:pPr algn="ctr" fontAlgn="ctr">
                        <a:buNone/>
                      </a:pPr>
                      <a:r>
                        <a:rPr lang="en-US" sz="1400" b="0" u="none" strike="noStrike">
                          <a:solidFill>
                            <a:srgbClr val="000000"/>
                          </a:solidFill>
                          <a:effectLst/>
                        </a:rPr>
                        <a:t>2023</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12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a:solidFill>
                            <a:srgbClr val="000000"/>
                          </a:solidFill>
                          <a:effectLst/>
                        </a:rPr>
                        <a:t>20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US" sz="1400" b="0" u="none" strike="noStrike" dirty="0">
                          <a:solidFill>
                            <a:srgbClr val="000000"/>
                          </a:solidFill>
                          <a:effectLst/>
                        </a:rPr>
                        <a:t>158</a:t>
                      </a:r>
                      <a:endParaRPr lang="en-US" sz="14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39903831"/>
                  </a:ext>
                </a:extLst>
              </a:tr>
            </a:tbl>
          </a:graphicData>
        </a:graphic>
      </p:graphicFrame>
      <p:sp>
        <p:nvSpPr>
          <p:cNvPr id="5" name="Title 1">
            <a:extLst>
              <a:ext uri="{FF2B5EF4-FFF2-40B4-BE49-F238E27FC236}">
                <a16:creationId xmlns:a16="http://schemas.microsoft.com/office/drawing/2014/main" id="{07FEE953-1D06-D57F-D4FB-705D542D3B26}"/>
              </a:ext>
            </a:extLst>
          </p:cNvPr>
          <p:cNvSpPr txBox="1">
            <a:spLocks/>
          </p:cNvSpPr>
          <p:nvPr/>
        </p:nvSpPr>
        <p:spPr>
          <a:xfrm>
            <a:off x="733627" y="5113474"/>
            <a:ext cx="5543145" cy="656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t>Correlation between complaints and closed accounts 0.435</a:t>
            </a:r>
          </a:p>
        </p:txBody>
      </p:sp>
    </p:spTree>
    <p:extLst>
      <p:ext uri="{BB962C8B-B14F-4D97-AF65-F5344CB8AC3E}">
        <p14:creationId xmlns:p14="http://schemas.microsoft.com/office/powerpoint/2010/main" val="2266717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9B894-A4BD-E35C-62FD-81CBDF5F6183}"/>
              </a:ext>
            </a:extLst>
          </p:cNvPr>
          <p:cNvSpPr>
            <a:spLocks noGrp="1"/>
          </p:cNvSpPr>
          <p:nvPr>
            <p:ph type="title"/>
          </p:nvPr>
        </p:nvSpPr>
        <p:spPr>
          <a:xfrm>
            <a:off x="589786" y="556861"/>
            <a:ext cx="8398572" cy="591003"/>
          </a:xfrm>
        </p:spPr>
        <p:txBody>
          <a:bodyPr>
            <a:normAutofit fontScale="90000"/>
          </a:bodyPr>
          <a:lstStyle/>
          <a:p>
            <a:pPr algn="r" rtl="1"/>
            <a:r>
              <a:rPr lang="he-IL" dirty="0"/>
              <a:t>מסקנות</a:t>
            </a:r>
            <a:endParaRPr lang="en-US" dirty="0"/>
          </a:p>
        </p:txBody>
      </p:sp>
      <p:sp>
        <p:nvSpPr>
          <p:cNvPr id="3" name="Text Placeholder 2">
            <a:extLst>
              <a:ext uri="{FF2B5EF4-FFF2-40B4-BE49-F238E27FC236}">
                <a16:creationId xmlns:a16="http://schemas.microsoft.com/office/drawing/2014/main" id="{8CF5401B-9B88-9F60-C203-2834430628D3}"/>
              </a:ext>
            </a:extLst>
          </p:cNvPr>
          <p:cNvSpPr>
            <a:spLocks noGrp="1"/>
          </p:cNvSpPr>
          <p:nvPr>
            <p:ph type="body" idx="1"/>
          </p:nvPr>
        </p:nvSpPr>
        <p:spPr>
          <a:xfrm>
            <a:off x="589784" y="1371599"/>
            <a:ext cx="10947218" cy="5116749"/>
          </a:xfrm>
        </p:spPr>
        <p:txBody>
          <a:bodyPr>
            <a:noAutofit/>
          </a:bodyPr>
          <a:lstStyle/>
          <a:p>
            <a:pPr marL="182880" algn="r">
              <a:lnSpc>
                <a:spcPct val="120000"/>
              </a:lnSpc>
              <a:spcBef>
                <a:spcPts val="1200"/>
              </a:spcBef>
            </a:pPr>
            <a:r>
              <a:rPr lang="he-IL" dirty="0">
                <a:solidFill>
                  <a:schemeClr val="tx1"/>
                </a:solidFill>
                <a:latin typeface="Arial" panose="020B0604020202020204" pitchFamily="34" charset="0"/>
                <a:cs typeface="Arial" panose="020B0604020202020204" pitchFamily="34" charset="0"/>
              </a:rPr>
              <a:t>לגבי פתיחת חשבונות תמורה וחשבונות עובר ושב בשנת 2019 נרשם מספר הפתיחות הגבוה ביותר (חשבונות תמורה 178 נפתחו וחשבונות עו"ש נפתחו 144) בזכות קמפיין פרסומות בחודש פברואר של שנת  2019. בשנת 2020 התחילה מגפת קורונה ויתחיל הזמן הקשה לכל עסקים בכל העולם. כך בשנת 2021 נרשמה ירידה משמעותית במספר החשבונות שנפתחו (47 חשבונות מכל סוג). בשנת 2022 נראית גידול בפעילות פתיחת החשבונות בזכות עליה גדולה מרוסיה ואוקראינה בגלל המלחמה באוקראינה וסנקציות של אירופה וארה"ב. </a:t>
            </a:r>
          </a:p>
          <a:p>
            <a:pPr marL="182880" algn="r">
              <a:lnSpc>
                <a:spcPct val="120000"/>
              </a:lnSpc>
              <a:spcBef>
                <a:spcPts val="1200"/>
              </a:spcBef>
            </a:pPr>
            <a:r>
              <a:rPr lang="he-IL" dirty="0">
                <a:solidFill>
                  <a:schemeClr val="tx1"/>
                </a:solidFill>
                <a:latin typeface="Arial" panose="020B0604020202020204" pitchFamily="34" charset="0"/>
                <a:cs typeface="Arial" panose="020B0604020202020204" pitchFamily="34" charset="0"/>
              </a:rPr>
              <a:t>לגבי 5 הסניפים שפתחו הכי הרבה חשבונות בתקופה 2018-2022 לשים לב שהסניפים 12 ו-92 מובילים במספר פתיחת החשבונות (שנהם פתחו 18 חשבונות), הפער בין הסניפים המובילים קטן יחסית (סניפים מס' 9, 99, 39 פתחו 17 חשבונות). בסניפים מס' 12 ו-92 עובדת מערכות מוטיבציה חדשה לעובדי הסניף. </a:t>
            </a:r>
          </a:p>
          <a:p>
            <a:pPr marL="182880" algn="r">
              <a:lnSpc>
                <a:spcPct val="120000"/>
              </a:lnSpc>
              <a:spcBef>
                <a:spcPts val="1200"/>
              </a:spcBef>
            </a:pPr>
            <a:r>
              <a:rPr lang="he-IL" dirty="0">
                <a:solidFill>
                  <a:schemeClr val="tx1"/>
                </a:solidFill>
                <a:latin typeface="Arial" panose="020B0604020202020204" pitchFamily="34" charset="0"/>
                <a:cs typeface="Arial" panose="020B0604020202020204" pitchFamily="34" charset="0"/>
              </a:rPr>
              <a:t>ברבעון השני של השנים 2018, 2021 , 2022 יש ירידה משמעותית בהפקדות כסף בפיקדונות כי היה פחות פרסומות של פיקדונות בזמן הזה ובשנת 2021 ו2022 היית מגפה של קורונה והרבה לקוחות חיו בחופש ללא תשלום והכנסות שלהם ירדו ופעילות פיננסית הייתה נמוכה ביותר.</a:t>
            </a:r>
          </a:p>
          <a:p>
            <a:pPr algn="r" rtl="1"/>
            <a:endParaRPr lang="en-US" dirty="0">
              <a:solidFill>
                <a:schemeClr val="tx1"/>
              </a:solidFill>
              <a:latin typeface="Arial" panose="020B0604020202020204" pitchFamily="34" charset="0"/>
              <a:cs typeface="Arial" panose="020B0604020202020204" pitchFamily="34" charset="0"/>
            </a:endParaRPr>
          </a:p>
          <a:p>
            <a:pPr algn="r" rtl="1"/>
            <a:r>
              <a:rPr lang="he-IL" dirty="0">
                <a:solidFill>
                  <a:schemeClr val="tx1"/>
                </a:solidFill>
                <a:latin typeface="Arial" panose="020B0604020202020204" pitchFamily="34" charset="0"/>
                <a:cs typeface="Arial" panose="020B0604020202020204" pitchFamily="34" charset="0"/>
              </a:rPr>
              <a:t>   </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9794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FAF4D-E78B-BD4F-75DE-CC6EAC123231}"/>
              </a:ext>
            </a:extLst>
          </p:cNvPr>
          <p:cNvSpPr>
            <a:spLocks noGrp="1"/>
          </p:cNvSpPr>
          <p:nvPr>
            <p:ph type="title"/>
          </p:nvPr>
        </p:nvSpPr>
        <p:spPr>
          <a:xfrm>
            <a:off x="871888" y="503971"/>
            <a:ext cx="8596668" cy="585527"/>
          </a:xfrm>
        </p:spPr>
        <p:txBody>
          <a:bodyPr>
            <a:normAutofit fontScale="90000"/>
          </a:bodyPr>
          <a:lstStyle/>
          <a:p>
            <a:pPr algn="r"/>
            <a:r>
              <a:rPr lang="he-IL" dirty="0"/>
              <a:t>מסקנות</a:t>
            </a:r>
            <a:endParaRPr lang="en-US" dirty="0"/>
          </a:p>
        </p:txBody>
      </p:sp>
      <p:sp>
        <p:nvSpPr>
          <p:cNvPr id="3" name="Text Placeholder 2">
            <a:extLst>
              <a:ext uri="{FF2B5EF4-FFF2-40B4-BE49-F238E27FC236}">
                <a16:creationId xmlns:a16="http://schemas.microsoft.com/office/drawing/2014/main" id="{DBF9D2FB-3DEA-7758-4F94-88CA02589C22}"/>
              </a:ext>
            </a:extLst>
          </p:cNvPr>
          <p:cNvSpPr>
            <a:spLocks noGrp="1"/>
          </p:cNvSpPr>
          <p:nvPr>
            <p:ph type="body" idx="1"/>
          </p:nvPr>
        </p:nvSpPr>
        <p:spPr>
          <a:xfrm>
            <a:off x="677335" y="1527243"/>
            <a:ext cx="10597022" cy="4698459"/>
          </a:xfrm>
        </p:spPr>
        <p:txBody>
          <a:bodyPr>
            <a:normAutofit fontScale="92500" lnSpcReduction="10000"/>
          </a:bodyPr>
          <a:lstStyle/>
          <a:p>
            <a:pPr marL="182880" algn="r">
              <a:lnSpc>
                <a:spcPct val="120000"/>
              </a:lnSpc>
              <a:spcBef>
                <a:spcPts val="1200"/>
              </a:spcBef>
            </a:pPr>
            <a:r>
              <a:rPr lang="he-IL" dirty="0">
                <a:solidFill>
                  <a:schemeClr val="tx1"/>
                </a:solidFill>
                <a:latin typeface="Arial" panose="020B0604020202020204" pitchFamily="34" charset="0"/>
                <a:cs typeface="Arial" panose="020B0604020202020204" pitchFamily="34" charset="0"/>
              </a:rPr>
              <a:t>ברבעון רביעי בשנת 2022 ניתן לראות עלייה חדה במיוחד ברבעון הרביעי, שמגיע ל97899.78 ₪. ייתכן בזמן הזה הייתה עלייה במספר הלקוחות בזכות עליה הגדולה, עולים חדשים מחרו את הנכסים שלהם והעבירו את הכספים שלחם לבנק, אנשים קיבלו בונוסים של סוף שנה, הייתה עלייה בריבית של פיקדונות, הבנק הציע תנאים של פיקדונות חדשים ופעילות פיננסית הייתה גבוהה ביותר.</a:t>
            </a:r>
          </a:p>
          <a:p>
            <a:pPr marL="182880" algn="r">
              <a:lnSpc>
                <a:spcPct val="120000"/>
              </a:lnSpc>
              <a:spcBef>
                <a:spcPts val="1200"/>
              </a:spcBef>
            </a:pPr>
            <a:r>
              <a:rPr lang="he-IL" dirty="0">
                <a:solidFill>
                  <a:schemeClr val="tx1"/>
                </a:solidFill>
                <a:latin typeface="Arial" panose="020B0604020202020204" pitchFamily="34" charset="0"/>
                <a:cs typeface="Arial" panose="020B0604020202020204" pitchFamily="34" charset="0"/>
              </a:rPr>
              <a:t>בתקופת מינואר עד מרץ של שנת 2023 מספר הסגירות חשבונות נמוך יחסית (נסגרו 6–7 חשבונות). בתקופת ממאי עד ספטמבר של שנת 2023 מספר הסגירות חשבונות גם נמוך (נסגרו 2–5 חשבונות). בתקופה מאוקטובר עד דצמבר של שנת 2023 חיה מספר הסגירות הגבוה ביותר (נסגרו 20-45 חשבונות). נובמבר מציג שיא בסגירת חשבונות עם </a:t>
            </a:r>
            <a:r>
              <a:rPr lang="ru-RU">
                <a:solidFill>
                  <a:schemeClr val="tx1"/>
                </a:solidFill>
                <a:latin typeface="Arial" panose="020B0604020202020204" pitchFamily="34" charset="0"/>
                <a:cs typeface="Arial" panose="020B0604020202020204" pitchFamily="34" charset="0"/>
              </a:rPr>
              <a:t> 45</a:t>
            </a:r>
            <a:r>
              <a:rPr lang="he-IL" dirty="0">
                <a:solidFill>
                  <a:schemeClr val="tx1"/>
                </a:solidFill>
                <a:latin typeface="Arial" panose="020B0604020202020204" pitchFamily="34" charset="0"/>
                <a:cs typeface="Arial" panose="020B0604020202020204" pitchFamily="34" charset="0"/>
              </a:rPr>
              <a:t> סגירות.</a:t>
            </a:r>
            <a:r>
              <a:rPr lang="ru-RU" dirty="0">
                <a:solidFill>
                  <a:schemeClr val="tx1"/>
                </a:solidFill>
                <a:latin typeface="Arial" panose="020B0604020202020204" pitchFamily="34" charset="0"/>
                <a:cs typeface="Arial" panose="020B0604020202020204" pitchFamily="34" charset="0"/>
              </a:rPr>
              <a:t> </a:t>
            </a:r>
            <a:r>
              <a:rPr lang="he-IL" dirty="0">
                <a:solidFill>
                  <a:schemeClr val="tx1"/>
                </a:solidFill>
                <a:latin typeface="Arial" panose="020B0604020202020204" pitchFamily="34" charset="0"/>
                <a:cs typeface="Arial" panose="020B0604020202020204" pitchFamily="34" charset="0"/>
              </a:rPr>
              <a:t> ב7 באוקטובר בשנת 2023 התחילה מלחמה עם עזה ולבנון, ייתכן הרבה לקוחות סגרו את החשבונות שלהם ועברו לחו"ל. </a:t>
            </a:r>
          </a:p>
          <a:p>
            <a:pPr marL="182880" algn="r">
              <a:lnSpc>
                <a:spcPct val="120000"/>
              </a:lnSpc>
              <a:spcBef>
                <a:spcPts val="1200"/>
              </a:spcBef>
            </a:pPr>
            <a:r>
              <a:rPr lang="he-IL" sz="2100" dirty="0">
                <a:solidFill>
                  <a:schemeClr val="tx1"/>
                </a:solidFill>
                <a:latin typeface="Arial" panose="020B0604020202020204" pitchFamily="34" charset="0"/>
                <a:cs typeface="Arial" panose="020B0604020202020204" pitchFamily="34" charset="0"/>
              </a:rPr>
              <a:t>קורלציה בין הכמות התלונות של לקוחות לבין כמות חשבונות שנסגרו היא 0.435. זאת אומרת שקיים קשר חיובי בין מספר התלונות של לקוחות לבין מספר החשבונות שנסגרים, אך הקשר אינו חזק ולכן ייתכן שיש גורמים נוספים המשפיעים על החלטת הלקוחות לסגור חשבון כגון מלחמה או מגפת קורונה וכי'.</a:t>
            </a:r>
          </a:p>
          <a:p>
            <a:pPr marL="182880" algn="r">
              <a:lnSpc>
                <a:spcPct val="120000"/>
              </a:lnSpc>
              <a:spcBef>
                <a:spcPts val="1200"/>
              </a:spcBef>
            </a:pPr>
            <a:r>
              <a:rPr lang="he-IL" dirty="0">
                <a:solidFill>
                  <a:schemeClr val="tx1"/>
                </a:solidFill>
                <a:latin typeface="Arial" panose="020B0604020202020204" pitchFamily="34" charset="0"/>
                <a:cs typeface="Arial" panose="020B0604020202020204" pitchFamily="34" charset="0"/>
              </a:rPr>
              <a:t>  </a:t>
            </a:r>
          </a:p>
          <a:p>
            <a:pPr algn="r" rtl="1"/>
            <a:endParaRPr lang="en-US" dirty="0"/>
          </a:p>
        </p:txBody>
      </p:sp>
    </p:spTree>
    <p:extLst>
      <p:ext uri="{BB962C8B-B14F-4D97-AF65-F5344CB8AC3E}">
        <p14:creationId xmlns:p14="http://schemas.microsoft.com/office/powerpoint/2010/main" val="211226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5D977-A9C1-A4E9-B802-93837D973E42}"/>
              </a:ext>
            </a:extLst>
          </p:cNvPr>
          <p:cNvSpPr>
            <a:spLocks noGrp="1"/>
          </p:cNvSpPr>
          <p:nvPr>
            <p:ph type="title"/>
          </p:nvPr>
        </p:nvSpPr>
        <p:spPr>
          <a:xfrm>
            <a:off x="1338815" y="2360578"/>
            <a:ext cx="8596668" cy="1320800"/>
          </a:xfrm>
        </p:spPr>
        <p:txBody>
          <a:bodyPr>
            <a:normAutofit/>
          </a:bodyPr>
          <a:lstStyle/>
          <a:p>
            <a:pPr algn="ctr"/>
            <a:r>
              <a:rPr lang="he-IL" sz="6000" dirty="0"/>
              <a:t>תודה רבה</a:t>
            </a:r>
            <a:endParaRPr lang="en-US" sz="6000" dirty="0"/>
          </a:p>
        </p:txBody>
      </p:sp>
    </p:spTree>
    <p:extLst>
      <p:ext uri="{BB962C8B-B14F-4D97-AF65-F5344CB8AC3E}">
        <p14:creationId xmlns:p14="http://schemas.microsoft.com/office/powerpoint/2010/main" val="393735701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953</TotalTime>
  <Words>1109</Words>
  <Application>Microsoft Office PowerPoint</Application>
  <PresentationFormat>Widescreen</PresentationFormat>
  <Paragraphs>295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Trebuchet MS</vt:lpstr>
      <vt:lpstr>Wingdings 3</vt:lpstr>
      <vt:lpstr>Facet</vt:lpstr>
      <vt:lpstr>פרויקט גמר</vt:lpstr>
      <vt:lpstr>תיאור כללי</vt:lpstr>
      <vt:lpstr>תיאור של בסיס נתונים לניתוח</vt:lpstr>
      <vt:lpstr>שאלות עסקיות לניתוח</vt:lpstr>
      <vt:lpstr>כמות חשבונות תמורה וחשבונות עובר ושב שנפתחו בכל רביעון ובכל שנה של התקופה 2018-2022</vt:lpstr>
      <vt:lpstr>גרפים של ניתוח – חלוקה לפי סוגי חשבונות ושנים</vt:lpstr>
      <vt:lpstr>5 סניפים שפתחו כמות חשבונות גדולה ביותר בתקופה 2018-2022</vt:lpstr>
      <vt:lpstr>סכומים כספים שהופקדו בפיקדונות בכל רביעון ובכל שנה של התקופה 2018-2022</vt:lpstr>
      <vt:lpstr>כמות חשבונות שנסגרו בכל חודש בשנת 2023</vt:lpstr>
      <vt:lpstr>קורלציה בין כמות תלונות של לקוחות וכמות חשבונות שנסגרו בכל חודש של שנת 2023</vt:lpstr>
      <vt:lpstr>מסקנות</vt:lpstr>
      <vt:lpstr>מסקנות</vt:lpstr>
      <vt:lpstr>תודה רבה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Anat Kotsin</dc:creator>
  <cp:lastModifiedBy>Anat Kotsin</cp:lastModifiedBy>
  <cp:revision>63</cp:revision>
  <dcterms:created xsi:type="dcterms:W3CDTF">2026-03-08T17:12:03Z</dcterms:created>
  <dcterms:modified xsi:type="dcterms:W3CDTF">2026-03-30T21:49:28Z</dcterms:modified>
</cp:coreProperties>
</file>